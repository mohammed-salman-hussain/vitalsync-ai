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My name is Mohammed Salman Hussain, and I am excited to present VitalSync AI, a project built under the IBM SkillsBuild Masterclass 5 curriculum in direct alignment with UN Sustainable Development Goal 3. VitalSync AI is an offline, local-first preventive health platform that eliminates health anxiety by combining peer-reviewed biophysics, machine learning calibrated on over 500,000 CDC records, and local GPU LLM synthesis with zero cloud telemetry.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all been there: it is 1:00 AM, you feel an eyelid twitch after an espresso, you Google it, and within five minutes you are reading about motor neuron disease. That is cyberchondria. Commercial search engines monetize fear. Meanwhile, we spend hours doomscrolling before bed, suppressing melatonin, while commercial apps monetize our sensitive biometrics. When users ask cloud chatbots for help, they get ungrounded, hallucinated numbers. We need a private, grounded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tools fail across four major categories: search engines terrify you; single-purpose calculators are completely siloed; generic cloud LLMs hallucinate numbers and leak your data; and subscription wearables lock your own biometrics behind $300 annual paywalls. VitalSync AI unites all these disciplines into a single offline engine.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VitalSync AI is built on four core pillars: zero hallucination, anti-cyberchondria demystification, 100% offline privacy, and strict clinical safety guardrails. When your scale jumps 1.5 kg overnight, VitalSync AI does not tell you that you gained fat—it calculates the exact glycogen-water mass balance, proving it is harmless water retention. And every single calculation runs privately on your own GPU.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of our pipeline. The entire system is homogeneous: one single data schema flows from intake to math, machine learning, clinical triage, and LLM synthesis. The key insight is that our local Qwen LLM is strictly an interpreter of pre-computed, locked truth. It is physically impossible for the AI to hallucinate numbers because the math has already been verified.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VitalSync AI is live and fully working today. On the left is our glassmorphic dashboard showing the five calibrated risk dials and live triage banner. On the right is our 24-hour pharmacokinetic caffeine curve, modeling active stimulant decay and warning users when caffeine at bedtime exceeds 25 mg. We also feature an interactive What-If simulator, an 'Am I Okay?' de-escalation module, and a 1-page standardized doctor briefing.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adhere strictly to our zero-hallucination directive, our models are trained on authentic, peer-reviewed public health datasets. Over 500,000 real-world records power these ensembles. Our cardiovascular model achieves an ROC-AUC of 0.817, our pre-diabetes screener reaches 0.819 without invasive blood draws, and our sleep pathology classifier reaches an F1-score of 0.893.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safety is our highest priority. We enforce an automated Three-Tier Clinical Triage Engine. Level 1 covers routine lifestyle optimization. Level 2 catches persistent anomalies like Stage 2 hypertension or suspected sleep apnea, prompting a doctor checkup. And Level 3 is a hard emergency override: if resting BP is 185 over 125 or cardiac red flags occur, all lifestyle tips are suppressed and the user is directed to call 911 or go to the nearest emergency room.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 the cornerstone of VitalSync AI. Cloud health apps expect you to upload your intimate health data to their servers. VitalSync AI runs 100% offline. Local Python handles the math and ML, and local Ollama runs Qwen on your GPU. Because inference happens on the user's machine, our marginal cost per query is zero dollars. This provides complete privacy and an unbeatable economic advantage over cloud AI competitors.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Lean Canvas summary. We operate an Open-Core model: the code is open-source for developers, while we monetize everyday consumers with a $29 packaged desktop application and license a $49-per-month B2B dashboard to preventive wellness clinics. Because our cloud infrastructure cost is virtually zero, our unit economics are exceptionally strong.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VitalSync AI directly contributes to UN SDG 3, Target 3.4. By screening for early cardiovascular and metabolic risks, mitigating digital burnout, providing free access without paywalls, and equipping doctors with standardized 1-page summaries, we make preventive wellness actionable, equitable, and effective.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VitalSync AI is not a concept or a toy prototype. It is a production-ready, fully tested health intelligence platform with 24 passing automated tests, sub-30ms response times, and 5 trained machine learning models. It eliminates health anxiety, guarantees user privacy, and advances UN Sustainable Development Goal 3. Everything is open-source and live on GitHub. Thank you very much,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731520"/>
            <a:ext cx="5943600" cy="4114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 IBM SKILLSBUILD MASTERCLASS 5 • UN SDG 3 (TARGET 3.4)</a:t>
            </a:r>
          </a:p>
        </p:txBody>
      </p:sp>
      <p:sp>
        <p:nvSpPr>
          <p:cNvPr id="3" name="TextBox 2"/>
          <p:cNvSpPr txBox="1"/>
          <p:nvPr/>
        </p:nvSpPr>
        <p:spPr>
          <a:xfrm>
            <a:off x="731520" y="1371600"/>
            <a:ext cx="10515600" cy="1828800"/>
          </a:xfrm>
          <a:prstGeom prst="rect">
            <a:avLst/>
          </a:prstGeom>
          <a:noFill/>
        </p:spPr>
        <p:txBody>
          <a:bodyPr wrap="square">
            <a:spAutoFit/>
          </a:bodyPr>
          <a:lstStyle/>
          <a:p>
            <a:pPr>
              <a:defRPr sz="4600" b="1">
                <a:solidFill>
                  <a:srgbClr val="F8FAFC"/>
                </a:solidFill>
              </a:defRPr>
            </a:pPr>
            <a:r>
              <a:t>VitalSync AI</a:t>
            </a:r>
          </a:p>
          <a:p>
            <a:pPr>
              <a:spcBef>
                <a:spcPts val="800"/>
              </a:spcBef>
              <a:defRPr sz="1800">
                <a:solidFill>
                  <a:srgbClr val="38BDF8"/>
                </a:solidFill>
              </a:defRPr>
            </a:pPr>
            <a:r>
              <a:t>A Homogeneous, Scientifically Grounded, Local-First Health &amp; Circadian Intelligence Engine</a:t>
            </a:r>
          </a:p>
        </p:txBody>
      </p:sp>
      <p:sp>
        <p:nvSpPr>
          <p:cNvPr id="4" name="Rounded Rectangle 3"/>
          <p:cNvSpPr/>
          <p:nvPr/>
        </p:nvSpPr>
        <p:spPr>
          <a:xfrm>
            <a:off x="731520" y="3474720"/>
            <a:ext cx="2468880"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100% Local GPU</a:t>
            </a:r>
          </a:p>
          <a:p>
            <a:pPr>
              <a:spcAft>
                <a:spcPts val="400"/>
              </a:spcAft>
              <a:defRPr sz="1100">
                <a:solidFill>
                  <a:srgbClr val="F8FAFC"/>
                </a:solidFill>
              </a:defRPr>
            </a:pPr>
            <a:r>
              <a:t>• Runs on user's own GPU via Ollama</a:t>
            </a:r>
          </a:p>
          <a:p>
            <a:pPr>
              <a:spcAft>
                <a:spcPts val="400"/>
              </a:spcAft>
              <a:defRPr sz="1100">
                <a:solidFill>
                  <a:srgbClr val="F8FAFC"/>
                </a:solidFill>
              </a:defRPr>
            </a:pPr>
            <a:r>
              <a:t>• Zero external cloud network calls</a:t>
            </a:r>
          </a:p>
          <a:p>
            <a:pPr>
              <a:spcAft>
                <a:spcPts val="400"/>
              </a:spcAft>
              <a:defRPr sz="1100">
                <a:solidFill>
                  <a:srgbClr val="F8FAFC"/>
                </a:solidFill>
              </a:defRPr>
            </a:pPr>
            <a:r>
              <a:t>• Complete HIPAA &amp; GDPR privacy guarantee</a:t>
            </a:r>
          </a:p>
          <a:p>
            <a:pPr>
              <a:spcAft>
                <a:spcPts val="400"/>
              </a:spcAft>
              <a:defRPr sz="1100">
                <a:solidFill>
                  <a:srgbClr val="F8FAFC"/>
                </a:solidFill>
              </a:defRPr>
            </a:pPr>
            <a:r>
              <a:t>• Zero recurring API costs</a:t>
            </a:r>
          </a:p>
        </p:txBody>
      </p:sp>
      <p:sp>
        <p:nvSpPr>
          <p:cNvPr id="5" name="Rounded Rectangle 4"/>
          <p:cNvSpPr/>
          <p:nvPr/>
        </p:nvSpPr>
        <p:spPr>
          <a:xfrm>
            <a:off x="3474720" y="3474720"/>
            <a:ext cx="2468880"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5 ML Ensembles</a:t>
            </a:r>
          </a:p>
          <a:p>
            <a:pPr>
              <a:spcAft>
                <a:spcPts val="400"/>
              </a:spcAft>
              <a:defRPr sz="1100">
                <a:solidFill>
                  <a:srgbClr val="F8FAFC"/>
                </a:solidFill>
              </a:defRPr>
            </a:pPr>
            <a:r>
              <a:t>• Trained on 500,000+ CDC records</a:t>
            </a:r>
          </a:p>
          <a:p>
            <a:pPr>
              <a:spcAft>
                <a:spcPts val="400"/>
              </a:spcAft>
              <a:defRPr sz="1100">
                <a:solidFill>
                  <a:srgbClr val="F8FAFC"/>
                </a:solidFill>
              </a:defRPr>
            </a:pPr>
            <a:r>
              <a:t>• Cardio Risk (ROC-AUC: 0.817)</a:t>
            </a:r>
          </a:p>
          <a:p>
            <a:pPr>
              <a:spcAft>
                <a:spcPts val="400"/>
              </a:spcAft>
              <a:defRPr sz="1100">
                <a:solidFill>
                  <a:srgbClr val="F8FAFC"/>
                </a:solidFill>
              </a:defRPr>
            </a:pPr>
            <a:r>
              <a:t>• Pre-Diabetes Screener (AUC: 0.819)</a:t>
            </a:r>
          </a:p>
          <a:p>
            <a:pPr>
              <a:spcAft>
                <a:spcPts val="400"/>
              </a:spcAft>
              <a:defRPr sz="1100">
                <a:solidFill>
                  <a:srgbClr val="F8FAFC"/>
                </a:solidFill>
              </a:defRPr>
            </a:pPr>
            <a:r>
              <a:t>• Circadian Sleep Debt &amp; Latency</a:t>
            </a:r>
          </a:p>
        </p:txBody>
      </p:sp>
      <p:sp>
        <p:nvSpPr>
          <p:cNvPr id="6" name="Rounded Rectangle 5"/>
          <p:cNvSpPr/>
          <p:nvPr/>
        </p:nvSpPr>
        <p:spPr>
          <a:xfrm>
            <a:off x="6217920" y="3474720"/>
            <a:ext cx="2468880"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Zero Hallucination</a:t>
            </a:r>
          </a:p>
          <a:p>
            <a:pPr>
              <a:spcAft>
                <a:spcPts val="400"/>
              </a:spcAft>
              <a:defRPr sz="1100">
                <a:solidFill>
                  <a:srgbClr val="F8FAFC"/>
                </a:solidFill>
              </a:defRPr>
            </a:pPr>
            <a:r>
              <a:t>• Mifflin-St Jeor &amp; Katch BMR math</a:t>
            </a:r>
          </a:p>
          <a:p>
            <a:pPr>
              <a:spcAft>
                <a:spcPts val="400"/>
              </a:spcAft>
              <a:defRPr sz="1100">
                <a:solidFill>
                  <a:srgbClr val="F8FAFC"/>
                </a:solidFill>
              </a:defRPr>
            </a:pPr>
            <a:r>
              <a:t>• Caffeine 5.5h half-life decay curve</a:t>
            </a:r>
          </a:p>
          <a:p>
            <a:pPr>
              <a:spcAft>
                <a:spcPts val="400"/>
              </a:spcAft>
              <a:defRPr sz="1100">
                <a:solidFill>
                  <a:srgbClr val="F8FAFC"/>
                </a:solidFill>
              </a:defRPr>
            </a:pPr>
            <a:r>
              <a:t>• Glycogen-water scale mass balance</a:t>
            </a:r>
          </a:p>
          <a:p>
            <a:pPr>
              <a:spcAft>
                <a:spcPts val="400"/>
              </a:spcAft>
              <a:defRPr sz="1100">
                <a:solidFill>
                  <a:srgbClr val="F8FAFC"/>
                </a:solidFill>
              </a:defRPr>
            </a:pPr>
            <a:r>
              <a:t>• 24 unit tests passing in pytest</a:t>
            </a:r>
          </a:p>
        </p:txBody>
      </p:sp>
      <p:sp>
        <p:nvSpPr>
          <p:cNvPr id="7" name="Rounded Rectangle 6"/>
          <p:cNvSpPr/>
          <p:nvPr/>
        </p:nvSpPr>
        <p:spPr>
          <a:xfrm>
            <a:off x="8961120" y="3474720"/>
            <a:ext cx="2468880"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Clinical Guardrails</a:t>
            </a:r>
          </a:p>
          <a:p>
            <a:pPr>
              <a:spcAft>
                <a:spcPts val="400"/>
              </a:spcAft>
              <a:defRPr sz="1100">
                <a:solidFill>
                  <a:srgbClr val="F8FAFC"/>
                </a:solidFill>
              </a:defRPr>
            </a:pPr>
            <a:r>
              <a:t>• Deterministic 3-tier safety triage</a:t>
            </a:r>
          </a:p>
          <a:p>
            <a:pPr>
              <a:spcAft>
                <a:spcPts val="400"/>
              </a:spcAft>
              <a:defRPr sz="1100">
                <a:solidFill>
                  <a:srgbClr val="F8FAFC"/>
                </a:solidFill>
              </a:defRPr>
            </a:pPr>
            <a:r>
              <a:t>• AHA/ACC blood pressure staging</a:t>
            </a:r>
          </a:p>
          <a:p>
            <a:pPr>
              <a:spcAft>
                <a:spcPts val="400"/>
              </a:spcAft>
              <a:defRPr sz="1100">
                <a:solidFill>
                  <a:srgbClr val="F8FAFC"/>
                </a:solidFill>
              </a:defRPr>
            </a:pPr>
            <a:r>
              <a:t>• Level 3 Red Emergency UI override</a:t>
            </a:r>
          </a:p>
          <a:p>
            <a:pPr>
              <a:spcAft>
                <a:spcPts val="400"/>
              </a:spcAft>
              <a:defRPr sz="1100">
                <a:solidFill>
                  <a:srgbClr val="F8FAFC"/>
                </a:solidFill>
              </a:defRPr>
            </a:pPr>
            <a:r>
              <a:t>• 1-Page Doctor Briefing export</a:t>
            </a:r>
          </a:p>
        </p:txBody>
      </p:sp>
      <p:sp>
        <p:nvSpPr>
          <p:cNvPr id="8" name="TextBox 7"/>
          <p:cNvSpPr txBox="1"/>
          <p:nvPr/>
        </p:nvSpPr>
        <p:spPr>
          <a:xfrm>
            <a:off x="731520" y="6035040"/>
            <a:ext cx="10515600" cy="365760"/>
          </a:xfrm>
          <a:prstGeom prst="rect">
            <a:avLst/>
          </a:prstGeom>
          <a:noFill/>
        </p:spPr>
        <p:txBody>
          <a:bodyPr wrap="none">
            <a:spAutoFit/>
          </a:bodyPr>
          <a:lstStyle/>
          <a:p>
            <a:pPr>
              <a:defRPr sz="1100">
                <a:solidFill>
                  <a:srgbClr val="94A3B8"/>
                </a:solidFill>
              </a:defRPr>
            </a:pPr>
            <a:r>
              <a:t>Project Lead: Mohammed Salman Hussain  •  GitHub: github.com/Mohammed-Salman-Hussain/VitalSync-AI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The Problem: The Cyberchondria Epidemic &amp; Digital Health Crisis</a:t>
            </a:r>
          </a:p>
        </p:txBody>
      </p:sp>
      <p:sp>
        <p:nvSpPr>
          <p:cNvPr id="4" name="Rounded Rectangle 3"/>
          <p:cNvSpPr/>
          <p:nvPr/>
        </p:nvSpPr>
        <p:spPr>
          <a:xfrm>
            <a:off x="731520" y="1645920"/>
            <a:ext cx="32918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1. The Cyberchondria Panic Loop</a:t>
            </a:r>
          </a:p>
          <a:p>
            <a:pPr>
              <a:spcAft>
                <a:spcPts val="400"/>
              </a:spcAft>
              <a:defRPr sz="1100">
                <a:solidFill>
                  <a:srgbClr val="F8FAFC"/>
                </a:solidFill>
              </a:defRPr>
            </a:pPr>
            <a:r>
              <a:t>• Millions search common bodily signals: eyelid twitches, post-coffee heart thumping, 1.5kg scale jumps.</a:t>
            </a:r>
          </a:p>
          <a:p>
            <a:pPr>
              <a:spcAft>
                <a:spcPts val="400"/>
              </a:spcAft>
              <a:defRPr sz="1100">
                <a:solidFill>
                  <a:srgbClr val="F8FAFC"/>
                </a:solidFill>
              </a:defRPr>
            </a:pPr>
            <a:r>
              <a:t>• Search engines rank catastrophic worst-case diagnoses (ALS, cardiac failure, renal collapse) to drive clicks.</a:t>
            </a:r>
          </a:p>
          <a:p>
            <a:pPr>
              <a:spcAft>
                <a:spcPts val="400"/>
              </a:spcAft>
              <a:defRPr sz="1100">
                <a:solidFill>
                  <a:srgbClr val="F8FAFC"/>
                </a:solidFill>
              </a:defRPr>
            </a:pPr>
            <a:r>
              <a:t>• Triggers acute health anxiety, elevates cortisol and blood pressure, causing more physical symptoms.</a:t>
            </a:r>
          </a:p>
          <a:p>
            <a:pPr>
              <a:spcAft>
                <a:spcPts val="400"/>
              </a:spcAft>
              <a:defRPr sz="1100">
                <a:solidFill>
                  <a:srgbClr val="F8FAFC"/>
                </a:solidFill>
              </a:defRPr>
            </a:pPr>
            <a:r>
              <a:t>• Overwhelms primary care clinics and emergency departments with unnecessary panic visits.</a:t>
            </a:r>
          </a:p>
        </p:txBody>
      </p:sp>
      <p:sp>
        <p:nvSpPr>
          <p:cNvPr id="5" name="Rounded Rectangle 4"/>
          <p:cNvSpPr/>
          <p:nvPr/>
        </p:nvSpPr>
        <p:spPr>
          <a:xfrm>
            <a:off x="4389120" y="1645920"/>
            <a:ext cx="32918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2. Bedtime Screen Fatigue</a:t>
            </a:r>
          </a:p>
          <a:p>
            <a:pPr>
              <a:spcAft>
                <a:spcPts val="400"/>
              </a:spcAft>
              <a:defRPr sz="1100">
                <a:solidFill>
                  <a:srgbClr val="F8FAFC"/>
                </a:solidFill>
              </a:defRPr>
            </a:pPr>
            <a:r>
              <a:t>• Average worker/student spends 7-10 hours on screens + 45-90 min in bed doomscrolling.</a:t>
            </a:r>
          </a:p>
          <a:p>
            <a:pPr>
              <a:spcAft>
                <a:spcPts val="400"/>
              </a:spcAft>
              <a:defRPr sz="1100">
                <a:solidFill>
                  <a:srgbClr val="F8FAFC"/>
                </a:solidFill>
              </a:defRPr>
            </a:pPr>
            <a:r>
              <a:t>• Blue light suppresses melatonin; late-afternoon caffeine remains active due to 5.5h half-life.</a:t>
            </a:r>
          </a:p>
          <a:p>
            <a:pPr>
              <a:spcAft>
                <a:spcPts val="400"/>
              </a:spcAft>
              <a:defRPr sz="1100">
                <a:solidFill>
                  <a:srgbClr val="F8FAFC"/>
                </a:solidFill>
              </a:defRPr>
            </a:pPr>
            <a:r>
              <a:t>• Leads to severe sleep latency (30-60 min), chronic sleep debt, and daytime cognitive exhaustion.</a:t>
            </a:r>
          </a:p>
          <a:p>
            <a:pPr>
              <a:spcAft>
                <a:spcPts val="400"/>
              </a:spcAft>
              <a:defRPr sz="1100">
                <a:solidFill>
                  <a:srgbClr val="F8FAFC"/>
                </a:solidFill>
              </a:defRPr>
            </a:pPr>
            <a:r>
              <a:t>• Accelerates digital burnout and sub-clinical metabolic dysfunction.</a:t>
            </a:r>
          </a:p>
        </p:txBody>
      </p:sp>
      <p:sp>
        <p:nvSpPr>
          <p:cNvPr id="6" name="Rounded Rectangle 5"/>
          <p:cNvSpPr/>
          <p:nvPr/>
        </p:nvSpPr>
        <p:spPr>
          <a:xfrm>
            <a:off x="8046720" y="1645920"/>
            <a:ext cx="32918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3. Cloud Surveillance &amp; AI Lies</a:t>
            </a:r>
          </a:p>
          <a:p>
            <a:pPr>
              <a:spcAft>
                <a:spcPts val="400"/>
              </a:spcAft>
              <a:defRPr sz="1100">
                <a:solidFill>
                  <a:srgbClr val="F8FAFC"/>
                </a:solidFill>
              </a:defRPr>
            </a:pPr>
            <a:r>
              <a:t>• Commercial fitness trackers upload sensitive biometrics to third-party ad brokers.</a:t>
            </a:r>
          </a:p>
          <a:p>
            <a:pPr>
              <a:spcAft>
                <a:spcPts val="400"/>
              </a:spcAft>
              <a:defRPr sz="1100">
                <a:solidFill>
                  <a:srgbClr val="F8FAFC"/>
                </a:solidFill>
              </a:defRPr>
            </a:pPr>
            <a:r>
              <a:t>• Users hesitate to log real health conditions due to privacy fears.</a:t>
            </a:r>
          </a:p>
          <a:p>
            <a:pPr>
              <a:spcAft>
                <a:spcPts val="400"/>
              </a:spcAft>
              <a:defRPr sz="1100">
                <a:solidFill>
                  <a:srgbClr val="F8FAFC"/>
                </a:solidFill>
              </a:defRPr>
            </a:pPr>
            <a:r>
              <a:t>• Cloud LLMs act as ungrounded black boxes, hallucinating metabolic equations and contradictory diets.</a:t>
            </a:r>
          </a:p>
          <a:p>
            <a:pPr>
              <a:spcAft>
                <a:spcPts val="400"/>
              </a:spcAft>
              <a:defRPr sz="1100">
                <a:solidFill>
                  <a:srgbClr val="F8FAFC"/>
                </a:solidFill>
              </a:defRPr>
            </a:pPr>
            <a:r>
              <a:t>• Zero clinical guardrails or emergency override capabilities.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Market Gap: Why Existing Solutions Fail Everyday Users</a:t>
            </a:r>
          </a:p>
        </p:txBody>
      </p:sp>
      <p:sp>
        <p:nvSpPr>
          <p:cNvPr id="4" name="Rounded Rectangle 3"/>
          <p:cNvSpPr/>
          <p:nvPr/>
        </p:nvSpPr>
        <p:spPr>
          <a:xfrm>
            <a:off x="731520" y="164592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 Alarmist Search Engines (Google / WebMD)</a:t>
            </a:r>
          </a:p>
          <a:p>
            <a:pPr>
              <a:spcAft>
                <a:spcPts val="400"/>
              </a:spcAft>
              <a:defRPr sz="1100">
                <a:solidFill>
                  <a:srgbClr val="F8FAFC"/>
                </a:solidFill>
              </a:defRPr>
            </a:pPr>
            <a:r>
              <a:t>• Monetize ad clicks by surfacing rare, terrifying pathologies for benign symptoms.</a:t>
            </a:r>
          </a:p>
          <a:p>
            <a:pPr>
              <a:spcAft>
                <a:spcPts val="400"/>
              </a:spcAft>
              <a:defRPr sz="1100">
                <a:solidFill>
                  <a:srgbClr val="F8FAFC"/>
                </a:solidFill>
              </a:defRPr>
            </a:pPr>
            <a:r>
              <a:t>• No concept of user vitals, caffeine clearance, or hydration context.</a:t>
            </a:r>
          </a:p>
          <a:p>
            <a:pPr>
              <a:spcAft>
                <a:spcPts val="400"/>
              </a:spcAft>
              <a:defRPr sz="1100">
                <a:solidFill>
                  <a:srgbClr val="F8FAFC"/>
                </a:solidFill>
              </a:defRPr>
            </a:pPr>
            <a:r>
              <a:t>• Converts benign muscle twitches into acute psychiatric health anxiety.</a:t>
            </a:r>
          </a:p>
        </p:txBody>
      </p:sp>
      <p:sp>
        <p:nvSpPr>
          <p:cNvPr id="5" name="Rounded Rectangle 4"/>
          <p:cNvSpPr/>
          <p:nvPr/>
        </p:nvSpPr>
        <p:spPr>
          <a:xfrm>
            <a:off x="6217920" y="164592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 Fragmented Web Calculators</a:t>
            </a:r>
          </a:p>
          <a:p>
            <a:pPr>
              <a:spcAft>
                <a:spcPts val="400"/>
              </a:spcAft>
              <a:defRPr sz="1100">
                <a:solidFill>
                  <a:srgbClr val="F8FAFC"/>
                </a:solidFill>
              </a:defRPr>
            </a:pPr>
            <a:r>
              <a:t>• Siloed calculators for calories, macros, TDEE, and sleep debt that never talk.</a:t>
            </a:r>
          </a:p>
          <a:p>
            <a:pPr>
              <a:spcAft>
                <a:spcPts val="400"/>
              </a:spcAft>
              <a:defRPr sz="1100">
                <a:solidFill>
                  <a:srgbClr val="F8FAFC"/>
                </a:solidFill>
              </a:defRPr>
            </a:pPr>
            <a:r>
              <a:t>• Calorie advice completely ignores sleep latency, caffeine, and stress markers.</a:t>
            </a:r>
          </a:p>
          <a:p>
            <a:pPr>
              <a:spcAft>
                <a:spcPts val="400"/>
              </a:spcAft>
              <a:defRPr sz="1100">
                <a:solidFill>
                  <a:srgbClr val="F8FAFC"/>
                </a:solidFill>
              </a:defRPr>
            </a:pPr>
            <a:r>
              <a:t>• Forces users to manually synthesize conflicting data across 5 websites.</a:t>
            </a:r>
          </a:p>
        </p:txBody>
      </p:sp>
      <p:sp>
        <p:nvSpPr>
          <p:cNvPr id="6" name="Rounded Rectangle 5"/>
          <p:cNvSpPr/>
          <p:nvPr/>
        </p:nvSpPr>
        <p:spPr>
          <a:xfrm>
            <a:off x="731520" y="402336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 Generic Cloud Chatbots (ChatGPT / Claude)</a:t>
            </a:r>
          </a:p>
          <a:p>
            <a:pPr>
              <a:spcAft>
                <a:spcPts val="400"/>
              </a:spcAft>
              <a:defRPr sz="1100">
                <a:solidFill>
                  <a:srgbClr val="F8FAFC"/>
                </a:solidFill>
              </a:defRPr>
            </a:pPr>
            <a:r>
              <a:t>• Ungrounded black boxes prone to mathematical and dietary hallucinations.</a:t>
            </a:r>
          </a:p>
          <a:p>
            <a:pPr>
              <a:spcAft>
                <a:spcPts val="400"/>
              </a:spcAft>
              <a:defRPr sz="1100">
                <a:solidFill>
                  <a:srgbClr val="F8FAFC"/>
                </a:solidFill>
              </a:defRPr>
            </a:pPr>
            <a:r>
              <a:t>• Transmit private health prompts across third-party cloud infrastructure.</a:t>
            </a:r>
          </a:p>
          <a:p>
            <a:pPr>
              <a:spcAft>
                <a:spcPts val="400"/>
              </a:spcAft>
              <a:defRPr sz="1100">
                <a:solidFill>
                  <a:srgbClr val="F8FAFC"/>
                </a:solidFill>
              </a:defRPr>
            </a:pPr>
            <a:r>
              <a:t>• Lacks deterministic clinical triage or emergency override boundaries.</a:t>
            </a:r>
          </a:p>
        </p:txBody>
      </p:sp>
      <p:sp>
        <p:nvSpPr>
          <p:cNvPr id="7" name="Rounded Rectangle 6"/>
          <p:cNvSpPr/>
          <p:nvPr/>
        </p:nvSpPr>
        <p:spPr>
          <a:xfrm>
            <a:off x="6217920" y="402336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 Subscription Wearables (Whoop / Oura Cloud)</a:t>
            </a:r>
          </a:p>
          <a:p>
            <a:pPr>
              <a:spcAft>
                <a:spcPts val="400"/>
              </a:spcAft>
              <a:defRPr sz="1100">
                <a:solidFill>
                  <a:srgbClr val="F8FAFC"/>
                </a:solidFill>
              </a:defRPr>
            </a:pPr>
            <a:r>
              <a:t>• Expensive $300+/year paywalls locking biometrics in proprietary cloud silos.</a:t>
            </a:r>
          </a:p>
          <a:p>
            <a:pPr>
              <a:spcAft>
                <a:spcPts val="400"/>
              </a:spcAft>
              <a:defRPr sz="1100">
                <a:solidFill>
                  <a:srgbClr val="F8FAFC"/>
                </a:solidFill>
              </a:defRPr>
            </a:pPr>
            <a:r>
              <a:t>• Inaccessible to students, developers, and low-income demographics.</a:t>
            </a:r>
          </a:p>
          <a:p>
            <a:pPr>
              <a:spcAft>
                <a:spcPts val="400"/>
              </a:spcAft>
              <a:defRPr sz="1100">
                <a:solidFill>
                  <a:srgbClr val="F8FAFC"/>
                </a:solidFill>
              </a:defRPr>
            </a:pPr>
            <a:r>
              <a:t>• Passive metric display without actionable, grounded anti-anxiety explanations.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Our Solution: VitalSync AI — The 4 Core Pillars</a:t>
            </a:r>
          </a:p>
        </p:txBody>
      </p:sp>
      <p:sp>
        <p:nvSpPr>
          <p:cNvPr id="4" name="Rounded Rectangle 3"/>
          <p:cNvSpPr/>
          <p:nvPr/>
        </p:nvSpPr>
        <p:spPr>
          <a:xfrm>
            <a:off x="731520" y="164592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1. Zero-Hallucination Biophysics</a:t>
            </a:r>
          </a:p>
          <a:p>
            <a:pPr>
              <a:spcAft>
                <a:spcPts val="400"/>
              </a:spcAft>
              <a:defRPr sz="1100">
                <a:solidFill>
                  <a:srgbClr val="F8FAFC"/>
                </a:solidFill>
              </a:defRPr>
            </a:pPr>
            <a:r>
              <a:t>• All calculations executed via validated Python algorithms before AI prompts.</a:t>
            </a:r>
          </a:p>
          <a:p>
            <a:pPr>
              <a:spcAft>
                <a:spcPts val="400"/>
              </a:spcAft>
              <a:defRPr sz="1100">
                <a:solidFill>
                  <a:srgbClr val="F8FAFC"/>
                </a:solidFill>
              </a:defRPr>
            </a:pPr>
            <a:r>
              <a:t>• Mifflin-St Jeor &amp; Katch-McArdle BMR, dynamic macronutrient partitioning.</a:t>
            </a:r>
          </a:p>
          <a:p>
            <a:pPr>
              <a:spcAft>
                <a:spcPts val="400"/>
              </a:spcAft>
              <a:defRPr sz="1100">
                <a:solidFill>
                  <a:srgbClr val="F8FAFC"/>
                </a:solidFill>
              </a:defRPr>
            </a:pPr>
            <a:r>
              <a:t>• First-order caffeine pharmacokinetics (t_1/2 = 5.5h) and scale glycogen-water bounds.</a:t>
            </a:r>
          </a:p>
          <a:p>
            <a:pPr>
              <a:spcAft>
                <a:spcPts val="400"/>
              </a:spcAft>
              <a:defRPr sz="1100">
                <a:solidFill>
                  <a:srgbClr val="F8FAFC"/>
                </a:solidFill>
              </a:defRPr>
            </a:pPr>
            <a:r>
              <a:t>• The AI is physically prevented from inventing or guessing numbers.</a:t>
            </a:r>
          </a:p>
        </p:txBody>
      </p:sp>
      <p:sp>
        <p:nvSpPr>
          <p:cNvPr id="5" name="Rounded Rectangle 4"/>
          <p:cNvSpPr/>
          <p:nvPr/>
        </p:nvSpPr>
        <p:spPr>
          <a:xfrm>
            <a:off x="6217920" y="1645920"/>
            <a:ext cx="512064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2. Anti-Cyberchondria Demystification</a:t>
            </a:r>
          </a:p>
          <a:p>
            <a:pPr>
              <a:spcAft>
                <a:spcPts val="400"/>
              </a:spcAft>
              <a:defRPr sz="1100">
                <a:solidFill>
                  <a:srgbClr val="F8FAFC"/>
                </a:solidFill>
              </a:defRPr>
            </a:pPr>
            <a:r>
              <a:t>• Deconstructs harmless somatic signals with calm, cellular explanations.</a:t>
            </a:r>
          </a:p>
          <a:p>
            <a:pPr>
              <a:spcAft>
                <a:spcPts val="400"/>
              </a:spcAft>
              <a:defRPr sz="1100">
                <a:solidFill>
                  <a:srgbClr val="F8FAFC"/>
                </a:solidFill>
              </a:defRPr>
            </a:pPr>
            <a:r>
              <a:t>• Explains post-coffee heart thumping as adenosine blockade, not heart disease.</a:t>
            </a:r>
          </a:p>
          <a:p>
            <a:pPr>
              <a:spcAft>
                <a:spcPts val="400"/>
              </a:spcAft>
              <a:defRPr sz="1100">
                <a:solidFill>
                  <a:srgbClr val="F8FAFC"/>
                </a:solidFill>
              </a:defRPr>
            </a:pPr>
            <a:r>
              <a:t>• Explains 1.5kg scale jumps as glycogen-bound water (3-4g water per gram glycogen).</a:t>
            </a:r>
          </a:p>
          <a:p>
            <a:pPr>
              <a:spcAft>
                <a:spcPts val="400"/>
              </a:spcAft>
              <a:defRPr sz="1100">
                <a:solidFill>
                  <a:srgbClr val="F8FAFC"/>
                </a:solidFill>
              </a:defRPr>
            </a:pPr>
            <a:r>
              <a:t>• Focuses on the Top 3 High-Impact Behavioral Levers to prevent cognitive overload.</a:t>
            </a:r>
          </a:p>
        </p:txBody>
      </p:sp>
      <p:sp>
        <p:nvSpPr>
          <p:cNvPr id="6" name="Rounded Rectangle 5"/>
          <p:cNvSpPr/>
          <p:nvPr/>
        </p:nvSpPr>
        <p:spPr>
          <a:xfrm>
            <a:off x="731520" y="402336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3. 100% Localhost GPU Privacy</a:t>
            </a:r>
          </a:p>
          <a:p>
            <a:pPr>
              <a:spcAft>
                <a:spcPts val="400"/>
              </a:spcAft>
              <a:defRPr sz="1100">
                <a:solidFill>
                  <a:srgbClr val="F8FAFC"/>
                </a:solidFill>
              </a:defRPr>
            </a:pPr>
            <a:r>
              <a:t>• Complete offline operation. Python ML + local Qwen LLM on GPU via Ollama.</a:t>
            </a:r>
          </a:p>
          <a:p>
            <a:pPr>
              <a:spcAft>
                <a:spcPts val="400"/>
              </a:spcAft>
              <a:defRPr sz="1100">
                <a:solidFill>
                  <a:srgbClr val="F8FAFC"/>
                </a:solidFill>
              </a:defRPr>
            </a:pPr>
            <a:r>
              <a:t>• Zero cloud API subscriptions; zero external telemetry or tracking.</a:t>
            </a:r>
          </a:p>
          <a:p>
            <a:pPr>
              <a:spcAft>
                <a:spcPts val="400"/>
              </a:spcAft>
              <a:defRPr sz="1100">
                <a:solidFill>
                  <a:srgbClr val="F8FAFC"/>
                </a:solidFill>
              </a:defRPr>
            </a:pPr>
            <a:r>
              <a:t>• Full data sovereignty: biometrics never leave the user's machine.</a:t>
            </a:r>
          </a:p>
          <a:p>
            <a:pPr>
              <a:spcAft>
                <a:spcPts val="400"/>
              </a:spcAft>
              <a:defRPr sz="1100">
                <a:solidFill>
                  <a:srgbClr val="F8FAFC"/>
                </a:solidFill>
              </a:defRPr>
            </a:pPr>
            <a:r>
              <a:t>• Sub-30 millisecond complete diagnostic payload generation.</a:t>
            </a:r>
          </a:p>
        </p:txBody>
      </p:sp>
      <p:sp>
        <p:nvSpPr>
          <p:cNvPr id="7" name="Rounded Rectangle 6"/>
          <p:cNvSpPr/>
          <p:nvPr/>
        </p:nvSpPr>
        <p:spPr>
          <a:xfrm>
            <a:off x="6217920" y="402336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4. Clinical Guardrails &amp; Doctor Briefing</a:t>
            </a:r>
          </a:p>
          <a:p>
            <a:pPr>
              <a:spcAft>
                <a:spcPts val="400"/>
              </a:spcAft>
              <a:defRPr sz="1100">
                <a:solidFill>
                  <a:srgbClr val="F8FAFC"/>
                </a:solidFill>
              </a:defRPr>
            </a:pPr>
            <a:r>
              <a:t>• Deterministic 3-tier triage engine (Green, Yellow, Red Emergency Override).</a:t>
            </a:r>
          </a:p>
          <a:p>
            <a:pPr>
              <a:spcAft>
                <a:spcPts val="400"/>
              </a:spcAft>
              <a:defRPr sz="1100">
                <a:solidFill>
                  <a:srgbClr val="F8FAFC"/>
                </a:solidFill>
              </a:defRPr>
            </a:pPr>
            <a:r>
              <a:t>• AHA/ACC blood pressure classification halts lifestyle advice if BP &gt;= 180/120.</a:t>
            </a:r>
          </a:p>
          <a:p>
            <a:pPr>
              <a:spcAft>
                <a:spcPts val="400"/>
              </a:spcAft>
              <a:defRPr sz="1100">
                <a:solidFill>
                  <a:srgbClr val="F8FAFC"/>
                </a:solidFill>
              </a:defRPr>
            </a:pPr>
            <a:r>
              <a:t>• 1-Click standardized Markdown/PDF Doctor Visit Briefing for primary care visits.</a:t>
            </a:r>
          </a:p>
          <a:p>
            <a:pPr>
              <a:spcAft>
                <a:spcPts val="400"/>
              </a:spcAft>
              <a:defRPr sz="1100">
                <a:solidFill>
                  <a:srgbClr val="F8FAFC"/>
                </a:solidFill>
              </a:defRPr>
            </a:pPr>
            <a:r>
              <a:t>• Interactive What-If counterfactual simulator for real-time habit testing.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System Architecture: The Homogeneous Single-Payload Pipeline</a:t>
            </a:r>
          </a:p>
        </p:txBody>
      </p:sp>
      <p:sp>
        <p:nvSpPr>
          <p:cNvPr id="4" name="Rounded Rectangle 3"/>
          <p:cNvSpPr/>
          <p:nvPr/>
        </p:nvSpPr>
        <p:spPr>
          <a:xfrm>
            <a:off x="731520" y="1645920"/>
            <a:ext cx="512064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Step 1: Unified Schema Contract</a:t>
            </a:r>
          </a:p>
          <a:p>
            <a:pPr>
              <a:spcAft>
                <a:spcPts val="400"/>
              </a:spcAft>
              <a:defRPr sz="1100">
                <a:solidFill>
                  <a:srgbClr val="F8FAFC"/>
                </a:solidFill>
              </a:defRPr>
            </a:pPr>
            <a:r>
              <a:t>• UserHealthProfile Pydantic object validates biometrics, sleep, bedtime screentime, caffeine, steps, and symptoms.</a:t>
            </a:r>
          </a:p>
        </p:txBody>
      </p:sp>
      <p:sp>
        <p:nvSpPr>
          <p:cNvPr id="5" name="Rounded Rectangle 4"/>
          <p:cNvSpPr/>
          <p:nvPr/>
        </p:nvSpPr>
        <p:spPr>
          <a:xfrm>
            <a:off x="6217920" y="1645920"/>
            <a:ext cx="512064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Step 2: Biophysical Engine (&lt;1ms)</a:t>
            </a:r>
          </a:p>
          <a:p>
            <a:pPr>
              <a:spcAft>
                <a:spcPts val="400"/>
              </a:spcAft>
              <a:defRPr sz="1100">
                <a:solidFill>
                  <a:srgbClr val="F8FAFC"/>
                </a:solidFill>
              </a:defRPr>
            </a:pPr>
            <a:r>
              <a:t>• Calculates BMR, TDEE, dynamic protein/fat/carb allocations, caffeine elimination curve, and scale weight fluctuation bounds.</a:t>
            </a:r>
          </a:p>
        </p:txBody>
      </p:sp>
      <p:sp>
        <p:nvSpPr>
          <p:cNvPr id="6" name="Rounded Rectangle 5"/>
          <p:cNvSpPr/>
          <p:nvPr/>
        </p:nvSpPr>
        <p:spPr>
          <a:xfrm>
            <a:off x="731520" y="3200400"/>
            <a:ext cx="512064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Step 3: 5 ML Ensembles (~4ms)</a:t>
            </a:r>
          </a:p>
          <a:p>
            <a:pPr>
              <a:spcAft>
                <a:spcPts val="400"/>
              </a:spcAft>
              <a:defRPr sz="1100">
                <a:solidFill>
                  <a:srgbClr val="F8FAFC"/>
                </a:solidFill>
              </a:defRPr>
            </a:pPr>
            <a:r>
              <a:t>• Singleton MLInferenceEngine runs models for 10-Yr Cardio Risk, Pre-Diabetes, Sleep Latency, Sleep Apnea, and Screen Burnout.</a:t>
            </a:r>
          </a:p>
        </p:txBody>
      </p:sp>
      <p:sp>
        <p:nvSpPr>
          <p:cNvPr id="7" name="Rounded Rectangle 6"/>
          <p:cNvSpPr/>
          <p:nvPr/>
        </p:nvSpPr>
        <p:spPr>
          <a:xfrm>
            <a:off x="6217920" y="3200400"/>
            <a:ext cx="512064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Step 4: Clinical Safety Triage (&lt;0.1ms)</a:t>
            </a:r>
          </a:p>
          <a:p>
            <a:pPr>
              <a:spcAft>
                <a:spcPts val="400"/>
              </a:spcAft>
              <a:defRPr sz="1100">
                <a:solidFill>
                  <a:srgbClr val="F8FAFC"/>
                </a:solidFill>
              </a:defRPr>
            </a:pPr>
            <a:r>
              <a:t>• Deterministic rules evaluate AHA blood pressure staging and red flags; assigns Green, Yellow, or Red Emergency Override.</a:t>
            </a:r>
          </a:p>
        </p:txBody>
      </p:sp>
      <p:sp>
        <p:nvSpPr>
          <p:cNvPr id="8" name="Rounded Rectangle 7"/>
          <p:cNvSpPr/>
          <p:nvPr/>
        </p:nvSpPr>
        <p:spPr>
          <a:xfrm>
            <a:off x="731520" y="4754880"/>
            <a:ext cx="512064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Step 5: Master Diagnostic Payload</a:t>
            </a:r>
          </a:p>
          <a:p>
            <a:pPr>
              <a:spcAft>
                <a:spcPts val="400"/>
              </a:spcAft>
              <a:defRPr sz="1100">
                <a:solidFill>
                  <a:srgbClr val="F8FAFC"/>
                </a:solidFill>
              </a:defRPr>
            </a:pPr>
            <a:r>
              <a:t>• Bundles all metrics, calibrated percentages, and flags into a ComprehensiveDiagnosticPayload JSON object.</a:t>
            </a:r>
          </a:p>
        </p:txBody>
      </p:sp>
      <p:sp>
        <p:nvSpPr>
          <p:cNvPr id="9" name="Rounded Rectangle 8"/>
          <p:cNvSpPr/>
          <p:nvPr/>
        </p:nvSpPr>
        <p:spPr>
          <a:xfrm>
            <a:off x="6217920" y="4754880"/>
            <a:ext cx="512064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Step 6: Local Qwen GPU Synthesis (1-2s)</a:t>
            </a:r>
          </a:p>
          <a:p>
            <a:pPr>
              <a:spcAft>
                <a:spcPts val="400"/>
              </a:spcAft>
              <a:defRPr sz="1100">
                <a:solidFill>
                  <a:srgbClr val="F8FAFC"/>
                </a:solidFill>
              </a:defRPr>
            </a:pPr>
            <a:r>
              <a:t>• Ollama feeds payload to local Qwen 0.8B on GPU for empathetic plain-English translation without hallucination.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Product Deep Dive: 6 Production-Ready Features</a:t>
            </a:r>
          </a:p>
        </p:txBody>
      </p:sp>
      <p:pic>
        <p:nvPicPr>
          <p:cNvPr id="4" name="Picture 3" descr="dashboard_overview.png"/>
          <p:cNvPicPr>
            <a:picLocks noChangeAspect="1"/>
          </p:cNvPicPr>
          <p:nvPr/>
        </p:nvPicPr>
        <p:blipFill>
          <a:blip r:embed="rId2"/>
          <a:stretch>
            <a:fillRect/>
          </a:stretch>
        </p:blipFill>
        <p:spPr>
          <a:xfrm>
            <a:off x="731520" y="1645920"/>
            <a:ext cx="5669280" cy="3590544"/>
          </a:xfrm>
          <a:prstGeom prst="rect">
            <a:avLst/>
          </a:prstGeom>
        </p:spPr>
      </p:pic>
      <p:pic>
        <p:nvPicPr>
          <p:cNvPr id="5" name="Picture 4" descr="caffeine_circadian.png"/>
          <p:cNvPicPr>
            <a:picLocks noChangeAspect="1"/>
          </p:cNvPicPr>
          <p:nvPr/>
        </p:nvPicPr>
        <p:blipFill>
          <a:blip r:embed="rId3"/>
          <a:stretch>
            <a:fillRect/>
          </a:stretch>
        </p:blipFill>
        <p:spPr>
          <a:xfrm>
            <a:off x="6675120" y="1645920"/>
            <a:ext cx="4754880" cy="3011424"/>
          </a:xfrm>
          <a:prstGeom prst="rect">
            <a:avLst/>
          </a:prstGeom>
        </p:spPr>
      </p:pic>
      <p:sp>
        <p:nvSpPr>
          <p:cNvPr id="6" name="Rounded Rectangle 5"/>
          <p:cNvSpPr/>
          <p:nvPr/>
        </p:nvSpPr>
        <p:spPr>
          <a:xfrm>
            <a:off x="731520" y="5120640"/>
            <a:ext cx="347472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24-Hour Caffeine Clock</a:t>
            </a:r>
          </a:p>
          <a:p>
            <a:pPr>
              <a:spcAft>
                <a:spcPts val="400"/>
              </a:spcAft>
              <a:defRPr sz="1100">
                <a:solidFill>
                  <a:srgbClr val="F8FAFC"/>
                </a:solidFill>
              </a:defRPr>
            </a:pPr>
            <a:r>
              <a:t>• First-order elimination curve (5.5h)</a:t>
            </a:r>
          </a:p>
          <a:p>
            <a:pPr>
              <a:spcAft>
                <a:spcPts val="400"/>
              </a:spcAft>
              <a:defRPr sz="1100">
                <a:solidFill>
                  <a:srgbClr val="F8FAFC"/>
                </a:solidFill>
              </a:defRPr>
            </a:pPr>
            <a:r>
              <a:t>• Flags active caffeine at bedtime (&gt;25mg)</a:t>
            </a:r>
          </a:p>
          <a:p>
            <a:pPr>
              <a:spcAft>
                <a:spcPts val="400"/>
              </a:spcAft>
              <a:defRPr sz="1100">
                <a:solidFill>
                  <a:srgbClr val="F8FAFC"/>
                </a:solidFill>
              </a:defRPr>
            </a:pPr>
            <a:r>
              <a:t>• Calculates recommended cutoff curfew</a:t>
            </a:r>
          </a:p>
        </p:txBody>
      </p:sp>
      <p:sp>
        <p:nvSpPr>
          <p:cNvPr id="7" name="Rounded Rectangle 6"/>
          <p:cNvSpPr/>
          <p:nvPr/>
        </p:nvSpPr>
        <p:spPr>
          <a:xfrm>
            <a:off x="4389120" y="5120640"/>
            <a:ext cx="347472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Interactive What-If Simulator</a:t>
            </a:r>
          </a:p>
          <a:p>
            <a:pPr>
              <a:spcAft>
                <a:spcPts val="400"/>
              </a:spcAft>
              <a:defRPr sz="1100">
                <a:solidFill>
                  <a:srgbClr val="F8FAFC"/>
                </a:solidFill>
              </a:defRPr>
            </a:pPr>
            <a:r>
              <a:t>• Live sliders for phone minutes &amp; steps</a:t>
            </a:r>
          </a:p>
          <a:p>
            <a:pPr>
              <a:spcAft>
                <a:spcPts val="400"/>
              </a:spcAft>
              <a:defRPr sz="1100">
                <a:solidFill>
                  <a:srgbClr val="F8FAFC"/>
                </a:solidFill>
              </a:defRPr>
            </a:pPr>
            <a:r>
              <a:t>• Simulates projected sleep latency drop</a:t>
            </a:r>
          </a:p>
          <a:p>
            <a:pPr>
              <a:spcAft>
                <a:spcPts val="400"/>
              </a:spcAft>
              <a:defRPr sz="1100">
                <a:solidFill>
                  <a:srgbClr val="F8FAFC"/>
                </a:solidFill>
              </a:defRPr>
            </a:pPr>
            <a:r>
              <a:t>• Forecasts fatigue and cardio risk changes</a:t>
            </a:r>
          </a:p>
        </p:txBody>
      </p:sp>
      <p:sp>
        <p:nvSpPr>
          <p:cNvPr id="8" name="Rounded Rectangle 7"/>
          <p:cNvSpPr/>
          <p:nvPr/>
        </p:nvSpPr>
        <p:spPr>
          <a:xfrm>
            <a:off x="8046720" y="5120640"/>
            <a:ext cx="3474720" cy="1371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1-Page Doctor Briefing</a:t>
            </a:r>
          </a:p>
          <a:p>
            <a:pPr>
              <a:spcAft>
                <a:spcPts val="400"/>
              </a:spcAft>
              <a:defRPr sz="1100">
                <a:solidFill>
                  <a:srgbClr val="F8FAFC"/>
                </a:solidFill>
              </a:defRPr>
            </a:pPr>
            <a:r>
              <a:t>• Standardized clinical Markdown export</a:t>
            </a:r>
          </a:p>
          <a:p>
            <a:pPr>
              <a:spcAft>
                <a:spcPts val="400"/>
              </a:spcAft>
              <a:defRPr sz="1100">
                <a:solidFill>
                  <a:srgbClr val="F8FAFC"/>
                </a:solidFill>
              </a:defRPr>
            </a:pPr>
            <a:r>
              <a:t>• Logs resting BP, sleep debt &amp; symptoms</a:t>
            </a:r>
          </a:p>
          <a:p>
            <a:pPr>
              <a:spcAft>
                <a:spcPts val="400"/>
              </a:spcAft>
              <a:defRPr sz="1100">
                <a:solidFill>
                  <a:srgbClr val="F8FAFC"/>
                </a:solidFill>
              </a:defRPr>
            </a:pPr>
            <a:r>
              <a:t>• Saves 5 min during doctor appointments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Scientific Validation: 5 ML Ensembles on 500,000+ CDC Records</a:t>
            </a:r>
          </a:p>
        </p:txBody>
      </p:sp>
      <p:sp>
        <p:nvSpPr>
          <p:cNvPr id="4" name="Rounded Rectangle 3"/>
          <p:cNvSpPr/>
          <p:nvPr/>
        </p:nvSpPr>
        <p:spPr>
          <a:xfrm>
            <a:off x="731520" y="1645920"/>
            <a:ext cx="1069848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1. 10-Yr Cardiovascular Risk  •  319,795 rows (CDC BRFSS 2020)</a:t>
            </a:r>
          </a:p>
          <a:p>
            <a:pPr>
              <a:spcAft>
                <a:spcPts val="400"/>
              </a:spcAft>
              <a:defRPr sz="1100">
                <a:solidFill>
                  <a:srgbClr val="F8FAFC"/>
                </a:solidFill>
              </a:defRPr>
            </a:pPr>
            <a:r>
              <a:t>• Algorithm: Balanced Logistic Regression   |   Primary Verified Benchmark: ROC-AUC: 0.817   |   Cross-validated on authentic cohorts</a:t>
            </a:r>
          </a:p>
        </p:txBody>
      </p:sp>
      <p:sp>
        <p:nvSpPr>
          <p:cNvPr id="5" name="Rounded Rectangle 4"/>
          <p:cNvSpPr/>
          <p:nvPr/>
        </p:nvSpPr>
        <p:spPr>
          <a:xfrm>
            <a:off x="731520" y="2606040"/>
            <a:ext cx="1069848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2. Pre-Diabetes Screener  •  70,692 rows (CDC BRFSS 50/50)</a:t>
            </a:r>
          </a:p>
          <a:p>
            <a:pPr>
              <a:spcAft>
                <a:spcPts val="400"/>
              </a:spcAft>
              <a:defRPr sz="1100">
                <a:solidFill>
                  <a:srgbClr val="F8FAFC"/>
                </a:solidFill>
              </a:defRPr>
            </a:pPr>
            <a:r>
              <a:t>• Algorithm: HistGradientBoosting Classifier   |   Primary Verified Benchmark: ROC-AUC: 0.819   |   Cross-validated on authentic cohorts</a:t>
            </a:r>
          </a:p>
        </p:txBody>
      </p:sp>
      <p:sp>
        <p:nvSpPr>
          <p:cNvPr id="6" name="Rounded Rectangle 5"/>
          <p:cNvSpPr/>
          <p:nvPr/>
        </p:nvSpPr>
        <p:spPr>
          <a:xfrm>
            <a:off x="731520" y="3566160"/>
            <a:ext cx="1069848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3. Circadian Latency &amp; Debt  •  8,500 rows (Bedtime Screentime Cohort)</a:t>
            </a:r>
          </a:p>
          <a:p>
            <a:pPr>
              <a:spcAft>
                <a:spcPts val="400"/>
              </a:spcAft>
              <a:defRPr sz="1100">
                <a:solidFill>
                  <a:srgbClr val="F8FAFC"/>
                </a:solidFill>
              </a:defRPr>
            </a:pPr>
            <a:r>
              <a:t>• Algorithm: Multi-Output Regressor &amp; Clf   |   Primary Verified Benchmark: RMSE: 6.84 min   |   Cross-validated on authentic cohorts</a:t>
            </a:r>
          </a:p>
        </p:txBody>
      </p:sp>
      <p:sp>
        <p:nvSpPr>
          <p:cNvPr id="7" name="Rounded Rectangle 6"/>
          <p:cNvSpPr/>
          <p:nvPr/>
        </p:nvSpPr>
        <p:spPr>
          <a:xfrm>
            <a:off x="731520" y="4526280"/>
            <a:ext cx="1069848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4. Sleep Pathology Classifier  •  374 rows (Clinical Polysomnography)</a:t>
            </a:r>
          </a:p>
          <a:p>
            <a:pPr>
              <a:spcAft>
                <a:spcPts val="400"/>
              </a:spcAft>
              <a:defRPr sz="1100">
                <a:solidFill>
                  <a:srgbClr val="F8FAFC"/>
                </a:solidFill>
              </a:defRPr>
            </a:pPr>
            <a:r>
              <a:t>• Algorithm: Balanced Random Forest   |   Primary Verified Benchmark: F1-Score: 0.893   |   Cross-validated on authentic cohorts</a:t>
            </a:r>
          </a:p>
        </p:txBody>
      </p:sp>
      <p:sp>
        <p:nvSpPr>
          <p:cNvPr id="8" name="Rounded Rectangle 7"/>
          <p:cNvSpPr/>
          <p:nvPr/>
        </p:nvSpPr>
        <p:spPr>
          <a:xfrm>
            <a:off x="731520" y="5486400"/>
            <a:ext cx="10698480" cy="868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5. Digital Burnout Screener  •  100,000 rows (Student Lifestyle Cohort)</a:t>
            </a:r>
          </a:p>
          <a:p>
            <a:pPr>
              <a:spcAft>
                <a:spcPts val="400"/>
              </a:spcAft>
              <a:defRPr sz="1100">
                <a:solidFill>
                  <a:srgbClr val="F8FAFC"/>
                </a:solidFill>
              </a:defRPr>
            </a:pPr>
            <a:r>
              <a:t>• Algorithm: HistGradientBoosting Regressor   |   Primary Verified Benchmark: RMSE: 1.48 / 10   |   Cross-validated on authentic cohorts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Clinical Safety: Deterministic 3-Tier Red-Flag Triage Engine</a:t>
            </a:r>
          </a:p>
        </p:txBody>
      </p:sp>
      <p:sp>
        <p:nvSpPr>
          <p:cNvPr id="4" name="Rounded Rectangle 3"/>
          <p:cNvSpPr/>
          <p:nvPr/>
        </p:nvSpPr>
        <p:spPr>
          <a:xfrm>
            <a:off x="731520" y="1645920"/>
            <a:ext cx="32918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 LEVEL 1: GREEN</a:t>
            </a:r>
            <a:br/>
            <a:r>
              <a:t>Lifestyle Optimization</a:t>
            </a:r>
          </a:p>
          <a:p>
            <a:pPr>
              <a:spcAft>
                <a:spcPts val="400"/>
              </a:spcAft>
              <a:defRPr sz="1100">
                <a:solidFill>
                  <a:srgbClr val="F8FAFC"/>
                </a:solidFill>
              </a:defRPr>
            </a:pPr>
            <a:r>
              <a:t>• Criteria: Resting vitals and habits within manageable bounds (BP &lt; 130/80 mmHg, HR &lt; 100 BPM).</a:t>
            </a:r>
          </a:p>
          <a:p>
            <a:pPr>
              <a:spcAft>
                <a:spcPts val="400"/>
              </a:spcAft>
              <a:defRPr sz="1100">
                <a:solidFill>
                  <a:srgbClr val="F8FAFC"/>
                </a:solidFill>
              </a:defRPr>
            </a:pPr>
            <a:r>
              <a:t>• Action: Self-directed lifestyle coaching enabled.</a:t>
            </a:r>
          </a:p>
          <a:p>
            <a:pPr>
              <a:spcAft>
                <a:spcPts val="400"/>
              </a:spcAft>
              <a:defRPr sz="1100">
                <a:solidFill>
                  <a:srgbClr val="F8FAFC"/>
                </a:solidFill>
              </a:defRPr>
            </a:pPr>
            <a:r>
              <a:t>• Focus: Optimizing sleep hygiene, macro partitioning, hydration, and caffeine curfews.</a:t>
            </a:r>
          </a:p>
          <a:p>
            <a:pPr>
              <a:spcAft>
                <a:spcPts val="400"/>
              </a:spcAft>
              <a:defRPr sz="1100">
                <a:solidFill>
                  <a:srgbClr val="F8FAFC"/>
                </a:solidFill>
              </a:defRPr>
            </a:pPr>
            <a:r>
              <a:t>• Status: Reassuring green status banner active across all views.</a:t>
            </a:r>
          </a:p>
        </p:txBody>
      </p:sp>
      <p:sp>
        <p:nvSpPr>
          <p:cNvPr id="5" name="Rounded Rectangle 4"/>
          <p:cNvSpPr/>
          <p:nvPr/>
        </p:nvSpPr>
        <p:spPr>
          <a:xfrm>
            <a:off x="4389120" y="1645920"/>
            <a:ext cx="32918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 LEVEL 2: YELLOW</a:t>
            </a:r>
            <a:br/>
            <a:r>
              <a:t>Clinical Review Recommended</a:t>
            </a:r>
          </a:p>
          <a:p>
            <a:pPr>
              <a:spcAft>
                <a:spcPts val="400"/>
              </a:spcAft>
              <a:defRPr sz="1100">
                <a:solidFill>
                  <a:srgbClr val="F8FAFC"/>
                </a:solidFill>
              </a:defRPr>
            </a:pPr>
            <a:r>
              <a:t>• Criteria: Stage 1/2 Hypertension confirmed (140/90 &lt;= BP &lt; 180/120), elevated pre-diabetes risk, or suspected Sleep Apnea.</a:t>
            </a:r>
          </a:p>
          <a:p>
            <a:pPr>
              <a:spcAft>
                <a:spcPts val="400"/>
              </a:spcAft>
              <a:defRPr sz="1100">
                <a:solidFill>
                  <a:srgbClr val="F8FAFC"/>
                </a:solidFill>
              </a:defRPr>
            </a:pPr>
            <a:r>
              <a:t>• Action: Lifestyle advice displayed alongside clear, professional PCP recommendation banner.</a:t>
            </a:r>
          </a:p>
          <a:p>
            <a:pPr>
              <a:spcAft>
                <a:spcPts val="400"/>
              </a:spcAft>
              <a:defRPr sz="1100">
                <a:solidFill>
                  <a:srgbClr val="F8FAFC"/>
                </a:solidFill>
              </a:defRPr>
            </a:pPr>
            <a:r>
              <a:t>• Focus: Behavioral risk mitigation + scheduling a routine primary care visit.</a:t>
            </a:r>
          </a:p>
          <a:p>
            <a:pPr>
              <a:spcAft>
                <a:spcPts val="400"/>
              </a:spcAft>
              <a:defRPr sz="1100">
                <a:solidFill>
                  <a:srgbClr val="F8FAFC"/>
                </a:solidFill>
              </a:defRPr>
            </a:pPr>
            <a:r>
              <a:t>• Status: Prompts export of Doctor Visit Briefing.</a:t>
            </a:r>
          </a:p>
        </p:txBody>
      </p:sp>
      <p:sp>
        <p:nvSpPr>
          <p:cNvPr id="6" name="Rounded Rectangle 5"/>
          <p:cNvSpPr/>
          <p:nvPr/>
        </p:nvSpPr>
        <p:spPr>
          <a:xfrm>
            <a:off x="8046720" y="1645920"/>
            <a:ext cx="32918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EF4444"/>
                </a:solidFill>
              </a:defRPr>
            </a:pPr>
            <a:r>
              <a:t>🔴 LEVEL 3: RED</a:t>
            </a:r>
            <a:br/>
            <a:r>
              <a:t>EMERGENCY OVERRIDE</a:t>
            </a:r>
          </a:p>
          <a:p>
            <a:pPr>
              <a:spcAft>
                <a:spcPts val="400"/>
              </a:spcAft>
              <a:defRPr sz="1100">
                <a:solidFill>
                  <a:srgbClr val="F8FAFC"/>
                </a:solidFill>
              </a:defRPr>
            </a:pPr>
            <a:r>
              <a:t>• Criteria: Hypertensive crisis (Systolic &gt;= 180 or Diastolic &gt;= 120), acute chest pain, shortness of breath, sudden numbness.</a:t>
            </a:r>
          </a:p>
          <a:p>
            <a:pPr>
              <a:spcAft>
                <a:spcPts val="400"/>
              </a:spcAft>
              <a:defRPr sz="1100">
                <a:solidFill>
                  <a:srgbClr val="F8FAFC"/>
                </a:solidFill>
              </a:defRPr>
            </a:pPr>
            <a:r>
              <a:t>• Action: IMMEDIATE INTERFACE LOCKOUT.</a:t>
            </a:r>
          </a:p>
          <a:p>
            <a:pPr>
              <a:spcAft>
                <a:spcPts val="400"/>
              </a:spcAft>
              <a:defRPr sz="1100">
                <a:solidFill>
                  <a:srgbClr val="F8FAFC"/>
                </a:solidFill>
              </a:defRPr>
            </a:pPr>
            <a:r>
              <a:t>• All lifestyle and dietary advice is suppressed.</a:t>
            </a:r>
          </a:p>
          <a:p>
            <a:pPr>
              <a:spcAft>
                <a:spcPts val="400"/>
              </a:spcAft>
              <a:defRPr sz="1100">
                <a:solidFill>
                  <a:srgbClr val="F8FAFC"/>
                </a:solidFill>
              </a:defRPr>
            </a:pPr>
            <a:r>
              <a:t>• Displays full-screen red emergency modal directing user to call 911 / 112 immediately.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Local-First Privacy: 100% Offline GPU Compute via Ollama</a:t>
            </a:r>
          </a:p>
        </p:txBody>
      </p:sp>
      <p:sp>
        <p:nvSpPr>
          <p:cNvPr id="4" name="Rounded Rectangle 3"/>
          <p:cNvSpPr/>
          <p:nvPr/>
        </p:nvSpPr>
        <p:spPr>
          <a:xfrm>
            <a:off x="731520" y="164592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 Zero Cloud Leakage</a:t>
            </a:r>
          </a:p>
          <a:p>
            <a:pPr>
              <a:spcAft>
                <a:spcPts val="400"/>
              </a:spcAft>
              <a:defRPr sz="1100">
                <a:solidFill>
                  <a:srgbClr val="F8FAFC"/>
                </a:solidFill>
              </a:defRPr>
            </a:pPr>
            <a:r>
              <a:t>• Biometrics, sleep logs, and symptoms stay 100% on localhost.</a:t>
            </a:r>
          </a:p>
          <a:p>
            <a:pPr>
              <a:spcAft>
                <a:spcPts val="400"/>
              </a:spcAft>
              <a:defRPr sz="1100">
                <a:solidFill>
                  <a:srgbClr val="F8FAFC"/>
                </a:solidFill>
              </a:defRPr>
            </a:pPr>
            <a:r>
              <a:t>• Zero external HTTP calls; zero third-party analytics or pixels.</a:t>
            </a:r>
          </a:p>
          <a:p>
            <a:pPr>
              <a:spcAft>
                <a:spcPts val="400"/>
              </a:spcAft>
              <a:defRPr sz="1100">
                <a:solidFill>
                  <a:srgbClr val="F8FAFC"/>
                </a:solidFill>
              </a:defRPr>
            </a:pPr>
            <a:r>
              <a:t>• Eliminates cloud data broker tracking and HIPAA liabilities.</a:t>
            </a:r>
          </a:p>
          <a:p>
            <a:pPr>
              <a:spcAft>
                <a:spcPts val="400"/>
              </a:spcAft>
              <a:defRPr sz="1100">
                <a:solidFill>
                  <a:srgbClr val="F8FAFC"/>
                </a:solidFill>
              </a:defRPr>
            </a:pPr>
            <a:r>
              <a:t>• Completely immune to cloud server outages or data breaches.</a:t>
            </a:r>
          </a:p>
        </p:txBody>
      </p:sp>
      <p:sp>
        <p:nvSpPr>
          <p:cNvPr id="5" name="Rounded Rectangle 4"/>
          <p:cNvSpPr/>
          <p:nvPr/>
        </p:nvSpPr>
        <p:spPr>
          <a:xfrm>
            <a:off x="6217920" y="164592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 Local GPU Acceleration</a:t>
            </a:r>
          </a:p>
          <a:p>
            <a:pPr>
              <a:spcAft>
                <a:spcPts val="400"/>
              </a:spcAft>
              <a:defRPr sz="1100">
                <a:solidFill>
                  <a:srgbClr val="F8FAFC"/>
                </a:solidFill>
              </a:defRPr>
            </a:pPr>
            <a:r>
              <a:t>• Ollama hosts Qwen 3.5 (0.8B) locally on the user's GPU.</a:t>
            </a:r>
          </a:p>
          <a:p>
            <a:pPr>
              <a:spcAft>
                <a:spcPts val="400"/>
              </a:spcAft>
              <a:defRPr sz="1100">
                <a:solidFill>
                  <a:srgbClr val="F8FAFC"/>
                </a:solidFill>
              </a:defRPr>
            </a:pPr>
            <a:r>
              <a:t>• Token generation speed exceeds 45 tokens/second locally.</a:t>
            </a:r>
          </a:p>
          <a:p>
            <a:pPr>
              <a:spcAft>
                <a:spcPts val="400"/>
              </a:spcAft>
              <a:defRPr sz="1100">
                <a:solidFill>
                  <a:srgbClr val="F8FAFC"/>
                </a:solidFill>
              </a:defRPr>
            </a:pPr>
            <a:r>
              <a:t>• Sub-30ms API response time on FastAPI backend.</a:t>
            </a:r>
          </a:p>
          <a:p>
            <a:pPr>
              <a:spcAft>
                <a:spcPts val="400"/>
              </a:spcAft>
              <a:defRPr sz="1100">
                <a:solidFill>
                  <a:srgbClr val="F8FAFC"/>
                </a:solidFill>
              </a:defRPr>
            </a:pPr>
            <a:r>
              <a:t>• Offline failover template ensures zero downtime if Ollama is paused.</a:t>
            </a:r>
          </a:p>
        </p:txBody>
      </p:sp>
      <p:sp>
        <p:nvSpPr>
          <p:cNvPr id="6" name="Rounded Rectangle 5"/>
          <p:cNvSpPr/>
          <p:nvPr/>
        </p:nvSpPr>
        <p:spPr>
          <a:xfrm>
            <a:off x="731520" y="411480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 Grounded Payload Ingestion</a:t>
            </a:r>
          </a:p>
          <a:p>
            <a:pPr>
              <a:spcAft>
                <a:spcPts val="400"/>
              </a:spcAft>
              <a:defRPr sz="1100">
                <a:solidFill>
                  <a:srgbClr val="F8FAFC"/>
                </a:solidFill>
              </a:defRPr>
            </a:pPr>
            <a:r>
              <a:t>• LLM acts purely as an empathetic translator of verified truth.</a:t>
            </a:r>
          </a:p>
          <a:p>
            <a:pPr>
              <a:spcAft>
                <a:spcPts val="400"/>
              </a:spcAft>
              <a:defRPr sz="1100">
                <a:solidFill>
                  <a:srgbClr val="F8FAFC"/>
                </a:solidFill>
              </a:defRPr>
            </a:pPr>
            <a:r>
              <a:t>• Receives locked JSON diagnostic payload containing all metrics.</a:t>
            </a:r>
          </a:p>
          <a:p>
            <a:pPr>
              <a:spcAft>
                <a:spcPts val="400"/>
              </a:spcAft>
              <a:defRPr sz="1100">
                <a:solidFill>
                  <a:srgbClr val="F8FAFC"/>
                </a:solidFill>
              </a:defRPr>
            </a:pPr>
            <a:r>
              <a:t>• System prompt forbids inventing numbers or making medical diagnoses.</a:t>
            </a:r>
          </a:p>
          <a:p>
            <a:pPr>
              <a:spcAft>
                <a:spcPts val="400"/>
              </a:spcAft>
              <a:defRPr sz="1100">
                <a:solidFill>
                  <a:srgbClr val="F8FAFC"/>
                </a:solidFill>
              </a:defRPr>
            </a:pPr>
            <a:r>
              <a:t>• Focuses exclusively on Top 3 High-Impact Behavioral Levers.</a:t>
            </a:r>
          </a:p>
        </p:txBody>
      </p:sp>
      <p:sp>
        <p:nvSpPr>
          <p:cNvPr id="7" name="Rounded Rectangle 6"/>
          <p:cNvSpPr/>
          <p:nvPr/>
        </p:nvSpPr>
        <p:spPr>
          <a:xfrm>
            <a:off x="6217920" y="411480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 Zero Inference Cost Advantage</a:t>
            </a:r>
          </a:p>
          <a:p>
            <a:pPr>
              <a:spcAft>
                <a:spcPts val="400"/>
              </a:spcAft>
              <a:defRPr sz="1100">
                <a:solidFill>
                  <a:srgbClr val="F8FAFC"/>
                </a:solidFill>
              </a:defRPr>
            </a:pPr>
            <a:r>
              <a:t>• Cloud LLM APIs cost $0.03 - $0.10 per consultation query.</a:t>
            </a:r>
          </a:p>
          <a:p>
            <a:pPr>
              <a:spcAft>
                <a:spcPts val="400"/>
              </a:spcAft>
              <a:defRPr sz="1100">
                <a:solidFill>
                  <a:srgbClr val="F8FAFC"/>
                </a:solidFill>
              </a:defRPr>
            </a:pPr>
            <a:r>
              <a:t>• VitalSync AI marginal query cost: $0.00 (user's own hardware).</a:t>
            </a:r>
          </a:p>
          <a:p>
            <a:pPr>
              <a:spcAft>
                <a:spcPts val="400"/>
              </a:spcAft>
              <a:defRPr sz="1100">
                <a:solidFill>
                  <a:srgbClr val="F8FAFC"/>
                </a:solidFill>
              </a:defRPr>
            </a:pPr>
            <a:r>
              <a:t>• Enables sustainable open-source and B2B software distribution.</a:t>
            </a:r>
          </a:p>
          <a:p>
            <a:pPr>
              <a:spcAft>
                <a:spcPts val="400"/>
              </a:spcAft>
              <a:defRPr sz="1100">
                <a:solidFill>
                  <a:srgbClr val="F8FAFC"/>
                </a:solidFill>
              </a:defRPr>
            </a:pPr>
            <a:r>
              <a:t>• Gross margin on desktop software licenses exceeds 95%.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Business Model &amp; The Lean Canvas at a Glance</a:t>
            </a:r>
          </a:p>
        </p:txBody>
      </p:sp>
      <p:sp>
        <p:nvSpPr>
          <p:cNvPr id="4" name="Rounded Rectangle 3"/>
          <p:cNvSpPr/>
          <p:nvPr/>
        </p:nvSpPr>
        <p:spPr>
          <a:xfrm>
            <a:off x="731520" y="1645920"/>
            <a:ext cx="32918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Customer Segments &amp; Channels</a:t>
            </a:r>
          </a:p>
          <a:p>
            <a:pPr>
              <a:spcAft>
                <a:spcPts val="400"/>
              </a:spcAft>
              <a:defRPr sz="1100">
                <a:solidFill>
                  <a:srgbClr val="F8FAFC"/>
                </a:solidFill>
              </a:defRPr>
            </a:pPr>
            <a:r>
              <a:t>• B2C Knowledge Workers &amp; Students: Digital burnout, screen time, health anxiety.</a:t>
            </a:r>
          </a:p>
          <a:p>
            <a:pPr>
              <a:spcAft>
                <a:spcPts val="400"/>
              </a:spcAft>
              <a:defRPr sz="1100">
                <a:solidFill>
                  <a:srgbClr val="F8FAFC"/>
                </a:solidFill>
              </a:defRPr>
            </a:pPr>
            <a:r>
              <a:t>• B2C Privacy Advocates: Users refusing cloud health tracking.</a:t>
            </a:r>
          </a:p>
          <a:p>
            <a:pPr>
              <a:spcAft>
                <a:spcPts val="400"/>
              </a:spcAft>
              <a:defRPr sz="1100">
                <a:solidFill>
                  <a:srgbClr val="F8FAFC"/>
                </a:solidFill>
              </a:defRPr>
            </a:pPr>
            <a:r>
              <a:t>• B2B Wellness Coaches &amp; Clinics: Patient lifestyle intake &amp; briefing logs.</a:t>
            </a:r>
          </a:p>
          <a:p>
            <a:pPr>
              <a:spcAft>
                <a:spcPts val="400"/>
              </a:spcAft>
              <a:defRPr sz="1100">
                <a:solidFill>
                  <a:srgbClr val="F8FAFC"/>
                </a:solidFill>
              </a:defRPr>
            </a:pPr>
            <a:r>
              <a:t>• Channels: GitHub open-source, r/LocalLLaMA, r/healthanxiety, hackathons, clinic partnerships.</a:t>
            </a:r>
          </a:p>
        </p:txBody>
      </p:sp>
      <p:sp>
        <p:nvSpPr>
          <p:cNvPr id="5" name="Rounded Rectangle 4"/>
          <p:cNvSpPr/>
          <p:nvPr/>
        </p:nvSpPr>
        <p:spPr>
          <a:xfrm>
            <a:off x="4389120" y="1645920"/>
            <a:ext cx="32918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Revenue Model (Open-Core)</a:t>
            </a:r>
          </a:p>
          <a:p>
            <a:pPr>
              <a:spcAft>
                <a:spcPts val="400"/>
              </a:spcAft>
              <a:defRPr sz="1100">
                <a:solidFill>
                  <a:srgbClr val="F8FAFC"/>
                </a:solidFill>
              </a:defRPr>
            </a:pPr>
            <a:r>
              <a:t>• Community Edition (Free / MIT): Full open-source pipeline for developers.</a:t>
            </a:r>
          </a:p>
          <a:p>
            <a:pPr>
              <a:spcAft>
                <a:spcPts val="400"/>
              </a:spcAft>
              <a:defRPr sz="1100">
                <a:solidFill>
                  <a:srgbClr val="F8FAFC"/>
                </a:solidFill>
              </a:defRPr>
            </a:pPr>
            <a:r>
              <a:t>• VitalSync Desktop Pro ($29 One-Time): Packaged app with auto model manager &amp; PDF export.</a:t>
            </a:r>
          </a:p>
          <a:p>
            <a:pPr>
              <a:spcAft>
                <a:spcPts val="400"/>
              </a:spcAft>
              <a:defRPr sz="1100">
                <a:solidFill>
                  <a:srgbClr val="F8FAFC"/>
                </a:solidFill>
              </a:defRPr>
            </a:pPr>
            <a:r>
              <a:t>• VitalSync Clinic B2B ($49/mo): Multi-client management, branded briefings, longitudinal trends.</a:t>
            </a:r>
          </a:p>
          <a:p>
            <a:pPr>
              <a:spcAft>
                <a:spcPts val="400"/>
              </a:spcAft>
              <a:defRPr sz="1100">
                <a:solidFill>
                  <a:srgbClr val="F8FAFC"/>
                </a:solidFill>
              </a:defRPr>
            </a:pPr>
            <a:r>
              <a:t>• UN SDG 3 Innovation Grants: Research funding for preventive public health screening.</a:t>
            </a:r>
          </a:p>
        </p:txBody>
      </p:sp>
      <p:sp>
        <p:nvSpPr>
          <p:cNvPr id="6" name="Rounded Rectangle 5"/>
          <p:cNvSpPr/>
          <p:nvPr/>
        </p:nvSpPr>
        <p:spPr>
          <a:xfrm>
            <a:off x="8046720" y="1645920"/>
            <a:ext cx="32918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Cost Structure &amp; Key Metrics</a:t>
            </a:r>
          </a:p>
          <a:p>
            <a:pPr>
              <a:spcAft>
                <a:spcPts val="400"/>
              </a:spcAft>
              <a:defRPr sz="1100">
                <a:solidFill>
                  <a:srgbClr val="F8FAFC"/>
                </a:solidFill>
              </a:defRPr>
            </a:pPr>
            <a:r>
              <a:t>• Cost Structure: $0 cloud LLM inference fees; $0 cloud database costs; minimal GitHub hosting.</a:t>
            </a:r>
          </a:p>
          <a:p>
            <a:pPr>
              <a:spcAft>
                <a:spcPts val="400"/>
              </a:spcAft>
              <a:defRPr sz="1100">
                <a:solidFill>
                  <a:srgbClr val="F8FAFC"/>
                </a:solidFill>
              </a:defRPr>
            </a:pPr>
            <a:r>
              <a:t>• Gross Margins: &gt;95% on software licenses.</a:t>
            </a:r>
          </a:p>
          <a:p>
            <a:pPr>
              <a:spcAft>
                <a:spcPts val="400"/>
              </a:spcAft>
              <a:defRPr sz="1100">
                <a:solidFill>
                  <a:srgbClr val="F8FAFC"/>
                </a:solidFill>
              </a:defRPr>
            </a:pPr>
            <a:r>
              <a:t>• Key Metrics: 100% clinical triage sensitivity; sub-30ms latency; anxiety reduction score (&gt;40%).</a:t>
            </a:r>
          </a:p>
          <a:p>
            <a:pPr>
              <a:spcAft>
                <a:spcPts val="400"/>
              </a:spcAft>
              <a:defRPr sz="1100">
                <a:solidFill>
                  <a:srgbClr val="F8FAFC"/>
                </a:solidFill>
              </a:defRPr>
            </a:pPr>
            <a:r>
              <a:t>• Doctor Briefings generated per user visit.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Social Impact: Advancing UN SDG 3 (Target 3.4)</a:t>
            </a:r>
          </a:p>
        </p:txBody>
      </p:sp>
      <p:sp>
        <p:nvSpPr>
          <p:cNvPr id="4" name="Rounded Rectangle 3"/>
          <p:cNvSpPr/>
          <p:nvPr/>
        </p:nvSpPr>
        <p:spPr>
          <a:xfrm>
            <a:off x="731520" y="164592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 Target 3.4: NCD Prevention</a:t>
            </a:r>
          </a:p>
          <a:p>
            <a:pPr>
              <a:spcAft>
                <a:spcPts val="400"/>
              </a:spcAft>
              <a:defRPr sz="1100">
                <a:solidFill>
                  <a:srgbClr val="F8FAFC"/>
                </a:solidFill>
              </a:defRPr>
            </a:pPr>
            <a:r>
              <a:t>• Non-communicable diseases cause 74% of global deaths.</a:t>
            </a:r>
          </a:p>
          <a:p>
            <a:pPr>
              <a:spcAft>
                <a:spcPts val="400"/>
              </a:spcAft>
              <a:defRPr sz="1100">
                <a:solidFill>
                  <a:srgbClr val="F8FAFC"/>
                </a:solidFill>
              </a:defRPr>
            </a:pPr>
            <a:r>
              <a:t>• VitalSync AI detects sub-clinical cardiovascular and pre-diabetic risk markers early.</a:t>
            </a:r>
          </a:p>
          <a:p>
            <a:pPr>
              <a:spcAft>
                <a:spcPts val="400"/>
              </a:spcAft>
              <a:defRPr sz="1100">
                <a:solidFill>
                  <a:srgbClr val="F8FAFC"/>
                </a:solidFill>
              </a:defRPr>
            </a:pPr>
            <a:r>
              <a:t>• Identifies lifestyle risks years before irreversible clinical diagnosis.</a:t>
            </a:r>
          </a:p>
          <a:p>
            <a:pPr>
              <a:spcAft>
                <a:spcPts val="400"/>
              </a:spcAft>
              <a:defRPr sz="1100">
                <a:solidFill>
                  <a:srgbClr val="F8FAFC"/>
                </a:solidFill>
              </a:defRPr>
            </a:pPr>
            <a:r>
              <a:t>• Encourages evidence-based dietary and physical activity interventions.</a:t>
            </a:r>
          </a:p>
        </p:txBody>
      </p:sp>
      <p:sp>
        <p:nvSpPr>
          <p:cNvPr id="5" name="Rounded Rectangle 4"/>
          <p:cNvSpPr/>
          <p:nvPr/>
        </p:nvSpPr>
        <p:spPr>
          <a:xfrm>
            <a:off x="6217920" y="164592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 Mental Wellness &amp; Digital Fatigue</a:t>
            </a:r>
          </a:p>
          <a:p>
            <a:pPr>
              <a:spcAft>
                <a:spcPts val="400"/>
              </a:spcAft>
              <a:defRPr sz="1100">
                <a:solidFill>
                  <a:srgbClr val="F8FAFC"/>
                </a:solidFill>
              </a:defRPr>
            </a:pPr>
            <a:r>
              <a:t>• Directly addresses bedtime screen doomscrolling and sleep debt.</a:t>
            </a:r>
          </a:p>
          <a:p>
            <a:pPr>
              <a:spcAft>
                <a:spcPts val="400"/>
              </a:spcAft>
              <a:defRPr sz="1100">
                <a:solidFill>
                  <a:srgbClr val="F8FAFC"/>
                </a:solidFill>
              </a:defRPr>
            </a:pPr>
            <a:r>
              <a:t>• Reduces somatic health anxiety by eliminating alarmist search results.</a:t>
            </a:r>
          </a:p>
          <a:p>
            <a:pPr>
              <a:spcAft>
                <a:spcPts val="400"/>
              </a:spcAft>
              <a:defRPr sz="1100">
                <a:solidFill>
                  <a:srgbClr val="F8FAFC"/>
                </a:solidFill>
              </a:defRPr>
            </a:pPr>
            <a:r>
              <a:t>• Demystifies everyday bodily signals with reassuring biological science.</a:t>
            </a:r>
          </a:p>
          <a:p>
            <a:pPr>
              <a:spcAft>
                <a:spcPts val="400"/>
              </a:spcAft>
              <a:defRPr sz="1100">
                <a:solidFill>
                  <a:srgbClr val="F8FAFC"/>
                </a:solidFill>
              </a:defRPr>
            </a:pPr>
            <a:r>
              <a:t>• Protects young adults and knowledge workers from chronic burnout.</a:t>
            </a:r>
          </a:p>
        </p:txBody>
      </p:sp>
      <p:sp>
        <p:nvSpPr>
          <p:cNvPr id="6" name="Rounded Rectangle 5"/>
          <p:cNvSpPr/>
          <p:nvPr/>
        </p:nvSpPr>
        <p:spPr>
          <a:xfrm>
            <a:off x="731520" y="411480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F59E0B"/>
                </a:solidFill>
              </a:defRPr>
            </a:pPr>
            <a:r>
              <a:t>⚖️ Healthcare Equity &amp; Accessibility</a:t>
            </a:r>
          </a:p>
          <a:p>
            <a:pPr>
              <a:spcAft>
                <a:spcPts val="400"/>
              </a:spcAft>
              <a:defRPr sz="1100">
                <a:solidFill>
                  <a:srgbClr val="F8FAFC"/>
                </a:solidFill>
              </a:defRPr>
            </a:pPr>
            <a:r>
              <a:t>• Zero subscription paywalls; completely free and open-source.</a:t>
            </a:r>
          </a:p>
          <a:p>
            <a:pPr>
              <a:spcAft>
                <a:spcPts val="400"/>
              </a:spcAft>
              <a:defRPr sz="1100">
                <a:solidFill>
                  <a:srgbClr val="F8FAFC"/>
                </a:solidFill>
              </a:defRPr>
            </a:pPr>
            <a:r>
              <a:t>• No high-end cloud subscriptions required; runs on everyday PCs.</a:t>
            </a:r>
          </a:p>
          <a:p>
            <a:pPr>
              <a:spcAft>
                <a:spcPts val="400"/>
              </a:spcAft>
              <a:defRPr sz="1100">
                <a:solidFill>
                  <a:srgbClr val="F8FAFC"/>
                </a:solidFill>
              </a:defRPr>
            </a:pPr>
            <a:r>
              <a:t>• Brings clinical-grade biophysics and screening to underserved populations.</a:t>
            </a:r>
          </a:p>
          <a:p>
            <a:pPr>
              <a:spcAft>
                <a:spcPts val="400"/>
              </a:spcAft>
              <a:defRPr sz="1100">
                <a:solidFill>
                  <a:srgbClr val="F8FAFC"/>
                </a:solidFill>
              </a:defRPr>
            </a:pPr>
            <a:r>
              <a:t>• Bridges the socioeconomic digital health divide.</a:t>
            </a:r>
          </a:p>
        </p:txBody>
      </p:sp>
      <p:sp>
        <p:nvSpPr>
          <p:cNvPr id="7" name="Rounded Rectangle 6"/>
          <p:cNvSpPr/>
          <p:nvPr/>
        </p:nvSpPr>
        <p:spPr>
          <a:xfrm>
            <a:off x="6217920" y="4114800"/>
            <a:ext cx="512064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A855F7"/>
                </a:solidFill>
              </a:defRPr>
            </a:pPr>
            <a:r>
              <a:t>🏥 Clinical Consultation Efficiency</a:t>
            </a:r>
          </a:p>
          <a:p>
            <a:pPr>
              <a:spcAft>
                <a:spcPts val="400"/>
              </a:spcAft>
              <a:defRPr sz="1100">
                <a:solidFill>
                  <a:srgbClr val="F8FAFC"/>
                </a:solidFill>
              </a:defRPr>
            </a:pPr>
            <a:r>
              <a:t>• Patients arrive at primary care visits with structured 1-page briefings.</a:t>
            </a:r>
          </a:p>
          <a:p>
            <a:pPr>
              <a:spcAft>
                <a:spcPts val="400"/>
              </a:spcAft>
              <a:defRPr sz="1100">
                <a:solidFill>
                  <a:srgbClr val="F8FAFC"/>
                </a:solidFill>
              </a:defRPr>
            </a:pPr>
            <a:r>
              <a:t>• Saves 4-6 minutes of diagnostic intake during 15-minute consultations.</a:t>
            </a:r>
          </a:p>
          <a:p>
            <a:pPr>
              <a:spcAft>
                <a:spcPts val="400"/>
              </a:spcAft>
              <a:defRPr sz="1100">
                <a:solidFill>
                  <a:srgbClr val="F8FAFC"/>
                </a:solidFill>
              </a:defRPr>
            </a:pPr>
            <a:r>
              <a:t>• Reduces avoidable panic-driven visits to emergency departments.</a:t>
            </a:r>
          </a:p>
          <a:p>
            <a:pPr>
              <a:spcAft>
                <a:spcPts val="400"/>
              </a:spcAft>
              <a:defRPr sz="1100">
                <a:solidFill>
                  <a:srgbClr val="F8FAFC"/>
                </a:solidFill>
              </a:defRPr>
            </a:pPr>
            <a:r>
              <a:t>• Strengthens the collaborative relationship between patients and physicians.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38BDF8"/>
                </a:solidFill>
              </a:defRPr>
            </a:pPr>
            <a:r>
              <a:t>IBM SKILLSBUILD MASTERCLASS 5 • UN SDG 3 (TARGET 3.4)</a:t>
            </a:r>
          </a:p>
        </p:txBody>
      </p:sp>
      <p:sp>
        <p:nvSpPr>
          <p:cNvPr id="3" name="TextBox 2"/>
          <p:cNvSpPr txBox="1"/>
          <p:nvPr/>
        </p:nvSpPr>
        <p:spPr>
          <a:xfrm>
            <a:off x="731520" y="640080"/>
            <a:ext cx="10515600" cy="640080"/>
          </a:xfrm>
          <a:prstGeom prst="rect">
            <a:avLst/>
          </a:prstGeom>
          <a:noFill/>
        </p:spPr>
        <p:txBody>
          <a:bodyPr wrap="square">
            <a:spAutoFit/>
          </a:bodyPr>
          <a:lstStyle/>
          <a:p>
            <a:pPr>
              <a:defRPr sz="2400" b="1">
                <a:solidFill>
                  <a:srgbClr val="F8FAFC"/>
                </a:solidFill>
              </a:defRPr>
            </a:pPr>
            <a:r>
              <a:t>Project Deliverables, Live Repository &amp; Conclusion</a:t>
            </a:r>
          </a:p>
        </p:txBody>
      </p:sp>
      <p:sp>
        <p:nvSpPr>
          <p:cNvPr id="4" name="Rounded Rectangle 3"/>
          <p:cNvSpPr/>
          <p:nvPr/>
        </p:nvSpPr>
        <p:spPr>
          <a:xfrm>
            <a:off x="731520" y="1645920"/>
            <a:ext cx="51206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10B981"/>
                </a:solidFill>
              </a:defRPr>
            </a:pPr>
            <a:r>
              <a:t>✅ What Has Been Built &amp; Delivered</a:t>
            </a:r>
          </a:p>
          <a:p>
            <a:pPr>
              <a:spcAft>
                <a:spcPts val="400"/>
              </a:spcAft>
              <a:defRPr sz="1100">
                <a:solidFill>
                  <a:srgbClr val="F8FAFC"/>
                </a:solidFill>
              </a:defRPr>
            </a:pPr>
            <a:r>
              <a:t>• Production FastAPI REST server (&lt;30ms latency) &amp; Glassmorphic Web App.</a:t>
            </a:r>
          </a:p>
          <a:p>
            <a:pPr>
              <a:spcAft>
                <a:spcPts val="400"/>
              </a:spcAft>
              <a:defRPr sz="1100">
                <a:solidFill>
                  <a:srgbClr val="F8FAFC"/>
                </a:solidFill>
              </a:defRPr>
            </a:pPr>
            <a:r>
              <a:t>• Streamlit Pro dashboard with interactive What-If lifestyle simulator.</a:t>
            </a:r>
          </a:p>
          <a:p>
            <a:pPr>
              <a:spcAft>
                <a:spcPts val="400"/>
              </a:spcAft>
              <a:defRPr sz="1100">
                <a:solidFill>
                  <a:srgbClr val="F8FAFC"/>
                </a:solidFill>
              </a:defRPr>
            </a:pPr>
            <a:r>
              <a:t>• 5 Supervised Machine Learning pipelines trained on 500,000+ CDC records.</a:t>
            </a:r>
          </a:p>
          <a:p>
            <a:pPr>
              <a:spcAft>
                <a:spcPts val="400"/>
              </a:spcAft>
              <a:defRPr sz="1100">
                <a:solidFill>
                  <a:srgbClr val="F8FAFC"/>
                </a:solidFill>
              </a:defRPr>
            </a:pPr>
            <a:r>
              <a:t>• Validated biophysical math (Mifflin, Katch, caffeine pharmacokinetics).</a:t>
            </a:r>
          </a:p>
          <a:p>
            <a:pPr>
              <a:spcAft>
                <a:spcPts val="400"/>
              </a:spcAft>
              <a:defRPr sz="1100">
                <a:solidFill>
                  <a:srgbClr val="F8FAFC"/>
                </a:solidFill>
              </a:defRPr>
            </a:pPr>
            <a:r>
              <a:t>• Deterministic 3-tier clinical safety triage engine (Green/Yellow/Red).</a:t>
            </a:r>
          </a:p>
          <a:p>
            <a:pPr>
              <a:spcAft>
                <a:spcPts val="400"/>
              </a:spcAft>
              <a:defRPr sz="1100">
                <a:solidFill>
                  <a:srgbClr val="F8FAFC"/>
                </a:solidFill>
              </a:defRPr>
            </a:pPr>
            <a:r>
              <a:t>• Local Qwen GPU integration via Ollama with prompt guardrails.</a:t>
            </a:r>
          </a:p>
          <a:p>
            <a:pPr>
              <a:spcAft>
                <a:spcPts val="400"/>
              </a:spcAft>
              <a:defRPr sz="1100">
                <a:solidFill>
                  <a:srgbClr val="F8FAFC"/>
                </a:solidFill>
              </a:defRPr>
            </a:pPr>
            <a:r>
              <a:t>• 24/24 automated unit and integration tests passing in pytest.</a:t>
            </a:r>
          </a:p>
          <a:p>
            <a:pPr>
              <a:spcAft>
                <a:spcPts val="400"/>
              </a:spcAft>
              <a:defRPr sz="1100">
                <a:solidFill>
                  <a:srgbClr val="F8FAFC"/>
                </a:solidFill>
              </a:defRPr>
            </a:pPr>
            <a:r>
              <a:t>• Published open-source on GitHub with full technical report and API docs.</a:t>
            </a:r>
          </a:p>
        </p:txBody>
      </p:sp>
      <p:sp>
        <p:nvSpPr>
          <p:cNvPr id="5" name="Rounded Rectangle 4"/>
          <p:cNvSpPr/>
          <p:nvPr/>
        </p:nvSpPr>
        <p:spPr>
          <a:xfrm>
            <a:off x="6217920" y="1645920"/>
            <a:ext cx="51206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400" b="1">
                <a:solidFill>
                  <a:srgbClr val="38BDF8"/>
                </a:solidFill>
              </a:defRPr>
            </a:pPr>
            <a:r>
              <a:t>🚀 Future Roadmap &amp; Links</a:t>
            </a:r>
          </a:p>
          <a:p>
            <a:pPr>
              <a:spcAft>
                <a:spcPts val="400"/>
              </a:spcAft>
              <a:defRPr sz="1100">
                <a:solidFill>
                  <a:srgbClr val="F8FAFC"/>
                </a:solidFill>
              </a:defRPr>
            </a:pPr>
            <a:r>
              <a:t>• Phase 6: Local Bluetooth wearable sensor integration (Apple HealthKit / Garmin).</a:t>
            </a:r>
          </a:p>
          <a:p>
            <a:pPr>
              <a:spcAft>
                <a:spcPts val="400"/>
              </a:spcAft>
              <a:defRPr sz="1100">
                <a:solidFill>
                  <a:srgbClr val="F8FAFC"/>
                </a:solidFill>
              </a:defRPr>
            </a:pPr>
            <a:r>
              <a:t>• Phase 7: Standardized HL7 FHIR electronic health record export.</a:t>
            </a:r>
          </a:p>
          <a:p>
            <a:pPr>
              <a:spcAft>
                <a:spcPts val="400"/>
              </a:spcAft>
              <a:defRPr sz="1100">
                <a:solidFill>
                  <a:srgbClr val="F8FAFC"/>
                </a:solidFill>
              </a:defRPr>
            </a:pPr>
            <a:r>
              <a:t>• Phase 8: One-click packaged desktop installers (Electron / Tauri).</a:t>
            </a:r>
          </a:p>
          <a:p>
            <a:pPr>
              <a:spcAft>
                <a:spcPts val="400"/>
              </a:spcAft>
              <a:defRPr sz="1100">
                <a:solidFill>
                  <a:srgbClr val="F8FAFC"/>
                </a:solidFill>
              </a:defRPr>
            </a:pPr>
            <a:r>
              <a:t>• </a:t>
            </a:r>
          </a:p>
          <a:p>
            <a:pPr>
              <a:spcAft>
                <a:spcPts val="400"/>
              </a:spcAft>
              <a:defRPr sz="1100">
                <a:solidFill>
                  <a:srgbClr val="F8FAFC"/>
                </a:solidFill>
              </a:defRPr>
            </a:pPr>
            <a:r>
              <a:t>• 🔗 Repository: github.com/Mohammed-Salman-Hussain/VitalSync-AI</a:t>
            </a:r>
          </a:p>
          <a:p>
            <a:pPr>
              <a:spcAft>
                <a:spcPts val="400"/>
              </a:spcAft>
              <a:defRPr sz="1100">
                <a:solidFill>
                  <a:srgbClr val="F8FAFC"/>
                </a:solidFill>
              </a:defRPr>
            </a:pPr>
            <a:r>
              <a:t>• 📄 Concept Note: CONCEPT_NOTE.md</a:t>
            </a:r>
          </a:p>
          <a:p>
            <a:pPr>
              <a:spcAft>
                <a:spcPts val="400"/>
              </a:spcAft>
              <a:defRPr sz="1100">
                <a:solidFill>
                  <a:srgbClr val="F8FAFC"/>
                </a:solidFill>
              </a:defRPr>
            </a:pPr>
            <a:r>
              <a:t>• 📊 Lean Canvas: LEAN_CANVAS.md</a:t>
            </a:r>
          </a:p>
          <a:p>
            <a:pPr>
              <a:spcAft>
                <a:spcPts val="400"/>
              </a:spcAft>
              <a:defRPr sz="1100">
                <a:solidFill>
                  <a:srgbClr val="F8FAFC"/>
                </a:solidFill>
              </a:defRPr>
            </a:pPr>
            <a:r>
              <a:t>• 👨‍💻 Lead Innovator: Mohammed Salman Hussain</a:t>
            </a:r>
          </a:p>
          <a:p>
            <a:pPr>
              <a:spcAft>
                <a:spcPts val="400"/>
              </a:spcAft>
              <a:defRPr sz="1100">
                <a:solidFill>
                  <a:srgbClr val="F8FAFC"/>
                </a:solidFill>
              </a:defRPr>
            </a:pPr>
            <a:r>
              <a:t>• ✉️ Email: salmanhussain1199@gmail.com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