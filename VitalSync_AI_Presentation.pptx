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everyone. My name is Mohammed Salman Hussain, and I am presenting VitalSync AI, created under IBM SkillsBuild Masterclass 5 in direct alignment with UN Sustainable Development Goal 3 (Target 3.4). VitalSync AI is an offline, local-first preventive health platform that eliminates health anxiety by combining peer-reviewed biophysics, machine learning calibrated on over 500,000 CDC records, and local GPU LLM synthesis with zero cloud telemetry. Everything you see today is production-ready, locally test-verified, and completely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all been there: it is 1:00 AM, you feel an eyelid twitch after an espresso, you Google it, and within five minutes you are convinced you have a motor neuron disease. That is cyberchondria. Commercial search engines monetize fear. Meanwhile, we spend hours doomscrolling before bed, suppressing melatonin, while commercial apps monetize our sensitive biometrics. When users ask cloud chatbots for help, they get ungrounded, hallucinated numbers. We need a private, grounded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tools fail across four major categories: search engines terrify you; single-purpose calculators are completely siloed; generic cloud LLMs hallucinate numbers and leak your data; and subscription wearables lock your own biometrics behind $300 annual paywalls. VitalSync AI unites all these disciplines into a single offline engine.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system architecture. The key architectural breakthrough is our Homogeneous Single-Payload Pipeline. One single Pydantic schema flows from input to biophysics math, machine learning inference, clinical safety triage, and local LLM synthesis. The local Qwen LLM is strictly an empathetic translator of locked, pre-computed truth. Because the numbers are pre-calculated by Python, the AI cannot hallucinate.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our live production dashboard running on localhost. On the left is the glassmorphic dashboard showing the live clinical triage banner and the five calibrated risk dials for cardiovascular risk, pre-diabetes, sleep latency, and burnout. On the right is our dynamic nutrition engine with macro partitioning based on the user's lean mass and activity levels. The entire interface communicates with our FastAPI backend with a sub-30ms roundtrip.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circadian sleep and caffeine engine. Caffeine has an average elimination half-life of 5.5 hours. If you drink 200 mg of caffeine at 4:00 PM, you still have nearly 100 mg active in your bloodstream at 10:00 PM. Our Canvas-rendered elimination curve maps exact stimulant clearance and alerts users if bedtime caffeine exceeds 25 mg. Crucially, it explains post-coffee heart flutters as harmless adenosine blockade, preventing late-night cardiac panic.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7, we showcase two of our most powerful interactive features. On the left is our counterfactual What-If simulator. Users can adjust sliders—such as reducing bedtime screen time by 45 minutes or adding 3,000 steps—and immediately see how their projected sleep latency drops by 18 minutes and their 10-year cardio risk improves. On the right is our functional micronutrient knowledge matrix, mapping subjective symptoms like eyelid twitches or cramps directly to biochemical cofactors.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demonstrates our commitment to patient well-being and clinical safety. On the left is our 'Am I Okay?' 60-second de-escalation tool. When someone sees a 1.5 kg scale jump overnight, we explain the biophysical glycogen-water mass balance—proving it is water retention, not fat gain. On the right is our 1-page standardized Doctor Visit Briefing. And underneath it all is our strict 3-tier clinical triage engine: if blood pressure is in hypertensive crisis or red flags occur, the entire app locks out lifestyle advice and directs the user to dial 911.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hallucination requires genuine scientific rigor. VitalSync AI deploys 5 supervised machine learning models trained on over 500,000 authentic records from the CDC and clinical polysomnography studies. Our cardiovascular model achieves an ROC-AUC of 0.817; our pre-diabetes screener achieves an ROC-AUC of 0.819 without invasive blood tests; and our sleep latency model achieves an RMSE of 6.84 minutes. All 24 automated unit tests pass in 3.25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VitalSync AI directly fulfills the requirements of IBM SkillsBuild Masterclass 5 and UN SDG 3, Target 3.4. Our business model relies on an open-core structure with unbeatable unit economics because inference runs 100% locally on user hardware. We have delivered a production REST API, dual web interfaces, 5 calibrated machine learning models, 24 passing unit tests, and a combined Lean Canvas and Concept Note PDF. The entire project is live on GitHub. Thank you very much, and I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Rounded Rectangle 1"/>
          <p:cNvSpPr/>
          <p:nvPr/>
        </p:nvSpPr>
        <p:spPr>
          <a:xfrm>
            <a:off x="731520" y="685800"/>
            <a:ext cx="6217920" cy="384048"/>
          </a:xfrm>
          <a:prstGeom prst="roundRect">
            <a:avLst/>
          </a:prstGeom>
          <a:solidFill>
            <a:srgbClr val="131C31"/>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defRPr>
            </a:pPr>
            <a:r>
              <a:t>🧬 IBM SKILLSBUILD MASTERCLASS 5 • UN SDG 3 (TARGET 3.4)</a:t>
            </a:r>
          </a:p>
        </p:txBody>
      </p:sp>
      <p:sp>
        <p:nvSpPr>
          <p:cNvPr id="3" name="TextBox 2"/>
          <p:cNvSpPr txBox="1"/>
          <p:nvPr/>
        </p:nvSpPr>
        <p:spPr>
          <a:xfrm>
            <a:off x="731520" y="1280160"/>
            <a:ext cx="10698480" cy="1920240"/>
          </a:xfrm>
          <a:prstGeom prst="rect">
            <a:avLst/>
          </a:prstGeom>
          <a:noFill/>
        </p:spPr>
        <p:txBody>
          <a:bodyPr wrap="square">
            <a:spAutoFit/>
          </a:bodyPr>
          <a:lstStyle/>
          <a:p>
            <a:pPr>
              <a:defRPr sz="4400" b="1">
                <a:solidFill>
                  <a:srgbClr val="F8FAFC"/>
                </a:solidFill>
              </a:defRPr>
            </a:pPr>
            <a:r>
              <a:t>VitalSync AI</a:t>
            </a:r>
          </a:p>
          <a:p>
            <a:pPr>
              <a:spcBef>
                <a:spcPts val="600"/>
              </a:spcBef>
              <a:defRPr sz="1700">
                <a:solidFill>
                  <a:srgbClr val="38BDF8"/>
                </a:solidFill>
              </a:defRPr>
            </a:pPr>
            <a:r>
              <a:t>A Homogeneous, Scientifically Grounded, Local-First Health &amp; Circadian Intelligence Engine</a:t>
            </a:r>
          </a:p>
          <a:p>
            <a:pPr>
              <a:spcBef>
                <a:spcPts val="800"/>
              </a:spcBef>
              <a:defRPr sz="1200">
                <a:solidFill>
                  <a:srgbClr val="94A3B8"/>
                </a:solidFill>
              </a:defRPr>
            </a:pPr>
            <a:r>
              <a:t>Eliminating cyberchondria through peer-reviewed biophysics, 5 ML models trained on 500,000+ CDC records, and local GPU LLM synthesis with zero cloud telemetry.</a:t>
            </a:r>
          </a:p>
        </p:txBody>
      </p:sp>
      <p:sp>
        <p:nvSpPr>
          <p:cNvPr id="4" name="Rounded Rectangle 3"/>
          <p:cNvSpPr/>
          <p:nvPr/>
        </p:nvSpPr>
        <p:spPr>
          <a:xfrm>
            <a:off x="731520" y="3566160"/>
            <a:ext cx="2514600" cy="23317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100% Local GPU</a:t>
            </a:r>
          </a:p>
          <a:p>
            <a:pPr>
              <a:spcAft>
                <a:spcPts val="300"/>
              </a:spcAft>
              <a:defRPr sz="1050">
                <a:solidFill>
                  <a:srgbClr val="F8FAFC"/>
                </a:solidFill>
              </a:defRPr>
            </a:pPr>
            <a:r>
              <a:t>• Runs on user's own GPU via Ollama</a:t>
            </a:r>
          </a:p>
          <a:p>
            <a:pPr>
              <a:spcAft>
                <a:spcPts val="300"/>
              </a:spcAft>
              <a:defRPr sz="1050">
                <a:solidFill>
                  <a:srgbClr val="F8FAFC"/>
                </a:solidFill>
              </a:defRPr>
            </a:pPr>
            <a:r>
              <a:t>• Zero external cloud network calls</a:t>
            </a:r>
          </a:p>
          <a:p>
            <a:pPr>
              <a:spcAft>
                <a:spcPts val="300"/>
              </a:spcAft>
              <a:defRPr sz="1050">
                <a:solidFill>
                  <a:srgbClr val="F8FAFC"/>
                </a:solidFill>
              </a:defRPr>
            </a:pPr>
            <a:r>
              <a:t>• Complete HIPAA &amp; GDPR privacy</a:t>
            </a:r>
          </a:p>
          <a:p>
            <a:pPr>
              <a:spcAft>
                <a:spcPts val="300"/>
              </a:spcAft>
              <a:defRPr sz="1050">
                <a:solidFill>
                  <a:srgbClr val="F8FAFC"/>
                </a:solidFill>
              </a:defRPr>
            </a:pPr>
            <a:r>
              <a:t>• $0 marginal API query cost</a:t>
            </a:r>
          </a:p>
        </p:txBody>
      </p:sp>
      <p:sp>
        <p:nvSpPr>
          <p:cNvPr id="5" name="Rounded Rectangle 4"/>
          <p:cNvSpPr/>
          <p:nvPr/>
        </p:nvSpPr>
        <p:spPr>
          <a:xfrm>
            <a:off x="3456432" y="3566160"/>
            <a:ext cx="2514600" cy="23317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10B981"/>
                </a:solidFill>
              </a:defRPr>
            </a:pPr>
            <a:r>
              <a:t>5 ML Ensembles</a:t>
            </a:r>
          </a:p>
          <a:p>
            <a:pPr>
              <a:spcAft>
                <a:spcPts val="300"/>
              </a:spcAft>
              <a:defRPr sz="1050">
                <a:solidFill>
                  <a:srgbClr val="F8FAFC"/>
                </a:solidFill>
              </a:defRPr>
            </a:pPr>
            <a:r>
              <a:t>• Trained on 500k+ CDC records</a:t>
            </a:r>
          </a:p>
          <a:p>
            <a:pPr>
              <a:spcAft>
                <a:spcPts val="300"/>
              </a:spcAft>
              <a:defRPr sz="1050">
                <a:solidFill>
                  <a:srgbClr val="F8FAFC"/>
                </a:solidFill>
              </a:defRPr>
            </a:pPr>
            <a:r>
              <a:t>• Cardio Risk (ROC-AUC: 0.817)</a:t>
            </a:r>
          </a:p>
          <a:p>
            <a:pPr>
              <a:spcAft>
                <a:spcPts val="300"/>
              </a:spcAft>
              <a:defRPr sz="1050">
                <a:solidFill>
                  <a:srgbClr val="F8FAFC"/>
                </a:solidFill>
              </a:defRPr>
            </a:pPr>
            <a:r>
              <a:t>• Pre-Diabetes (ROC-AUC: 0.819)</a:t>
            </a:r>
          </a:p>
          <a:p>
            <a:pPr>
              <a:spcAft>
                <a:spcPts val="300"/>
              </a:spcAft>
              <a:defRPr sz="1050">
                <a:solidFill>
                  <a:srgbClr val="F8FAFC"/>
                </a:solidFill>
              </a:defRPr>
            </a:pPr>
            <a:r>
              <a:t>• Circadian Sleep Debt &amp; Latency</a:t>
            </a:r>
          </a:p>
        </p:txBody>
      </p:sp>
      <p:sp>
        <p:nvSpPr>
          <p:cNvPr id="6" name="Rounded Rectangle 5"/>
          <p:cNvSpPr/>
          <p:nvPr/>
        </p:nvSpPr>
        <p:spPr>
          <a:xfrm>
            <a:off x="6181344" y="3566160"/>
            <a:ext cx="2514600" cy="23317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59E0B"/>
                </a:solidFill>
              </a:defRPr>
            </a:pPr>
            <a:r>
              <a:t>Zero Hallucination</a:t>
            </a:r>
          </a:p>
          <a:p>
            <a:pPr>
              <a:spcAft>
                <a:spcPts val="300"/>
              </a:spcAft>
              <a:defRPr sz="1050">
                <a:solidFill>
                  <a:srgbClr val="F8FAFC"/>
                </a:solidFill>
              </a:defRPr>
            </a:pPr>
            <a:r>
              <a:t>• Mifflin-St Jeor &amp; Katch BMR math</a:t>
            </a:r>
          </a:p>
          <a:p>
            <a:pPr>
              <a:spcAft>
                <a:spcPts val="300"/>
              </a:spcAft>
              <a:defRPr sz="1050">
                <a:solidFill>
                  <a:srgbClr val="F8FAFC"/>
                </a:solidFill>
              </a:defRPr>
            </a:pPr>
            <a:r>
              <a:t>• Caffeine 5.5h half-life decay curve</a:t>
            </a:r>
          </a:p>
          <a:p>
            <a:pPr>
              <a:spcAft>
                <a:spcPts val="300"/>
              </a:spcAft>
              <a:defRPr sz="1050">
                <a:solidFill>
                  <a:srgbClr val="F8FAFC"/>
                </a:solidFill>
              </a:defRPr>
            </a:pPr>
            <a:r>
              <a:t>• Glycogen-water mass balance</a:t>
            </a:r>
          </a:p>
          <a:p>
            <a:pPr>
              <a:spcAft>
                <a:spcPts val="300"/>
              </a:spcAft>
              <a:defRPr sz="1050">
                <a:solidFill>
                  <a:srgbClr val="F8FAFC"/>
                </a:solidFill>
              </a:defRPr>
            </a:pPr>
            <a:r>
              <a:t>• 24 unit tests passing in pytest</a:t>
            </a:r>
          </a:p>
        </p:txBody>
      </p:sp>
      <p:sp>
        <p:nvSpPr>
          <p:cNvPr id="7" name="Rounded Rectangle 6"/>
          <p:cNvSpPr/>
          <p:nvPr/>
        </p:nvSpPr>
        <p:spPr>
          <a:xfrm>
            <a:off x="8906256" y="3566160"/>
            <a:ext cx="2514600" cy="23317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A855F7"/>
                </a:solidFill>
              </a:defRPr>
            </a:pPr>
            <a:r>
              <a:t>Clinical Safety</a:t>
            </a:r>
          </a:p>
          <a:p>
            <a:pPr>
              <a:spcAft>
                <a:spcPts val="300"/>
              </a:spcAft>
              <a:defRPr sz="1050">
                <a:solidFill>
                  <a:srgbClr val="F8FAFC"/>
                </a:solidFill>
              </a:defRPr>
            </a:pPr>
            <a:r>
              <a:t>• Deterministic 3-tier triage engine</a:t>
            </a:r>
          </a:p>
          <a:p>
            <a:pPr>
              <a:spcAft>
                <a:spcPts val="300"/>
              </a:spcAft>
              <a:defRPr sz="1050">
                <a:solidFill>
                  <a:srgbClr val="F8FAFC"/>
                </a:solidFill>
              </a:defRPr>
            </a:pPr>
            <a:r>
              <a:t>• AHA/ACC blood pressure staging</a:t>
            </a:r>
          </a:p>
          <a:p>
            <a:pPr>
              <a:spcAft>
                <a:spcPts val="300"/>
              </a:spcAft>
              <a:defRPr sz="1050">
                <a:solidFill>
                  <a:srgbClr val="F8FAFC"/>
                </a:solidFill>
              </a:defRPr>
            </a:pPr>
            <a:r>
              <a:t>• Level 3 Red Emergency UI override</a:t>
            </a:r>
          </a:p>
          <a:p>
            <a:pPr>
              <a:spcAft>
                <a:spcPts val="300"/>
              </a:spcAft>
              <a:defRPr sz="1050">
                <a:solidFill>
                  <a:srgbClr val="F8FAFC"/>
                </a:solidFill>
              </a:defRPr>
            </a:pPr>
            <a:r>
              <a:t>• 1-Page Doctor Briefing export</a:t>
            </a:r>
          </a:p>
        </p:txBody>
      </p:sp>
      <p:sp>
        <p:nvSpPr>
          <p:cNvPr id="8" name="TextBox 7"/>
          <p:cNvSpPr txBox="1"/>
          <p:nvPr/>
        </p:nvSpPr>
        <p:spPr>
          <a:xfrm>
            <a:off x="731520" y="6126480"/>
            <a:ext cx="10698480" cy="365760"/>
          </a:xfrm>
          <a:prstGeom prst="rect">
            <a:avLst/>
          </a:prstGeom>
          <a:noFill/>
        </p:spPr>
        <p:txBody>
          <a:bodyPr wrap="none">
            <a:spAutoFit/>
          </a:bodyPr>
          <a:lstStyle/>
          <a:p>
            <a:pPr>
              <a:defRPr sz="1050">
                <a:solidFill>
                  <a:srgbClr val="94A3B8"/>
                </a:solidFill>
              </a:defRPr>
            </a:pPr>
            <a:r>
              <a:t>Project Lead: Mohammed Salman Hussain  •  GitHub: github.com/Mohammed-Salman-Hussain/VitalSync-AI  •  Email: salmanhussain1199@gmail.com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THE URGENT PROBLEM • UN SDG 3 CONTEXT</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The Problem: The Cyberchondria Epidemic &amp; Modern Digital Burnout</a:t>
            </a:r>
          </a:p>
        </p:txBody>
      </p:sp>
      <p:sp>
        <p:nvSpPr>
          <p:cNvPr id="4" name="Rounded Rectangle 3"/>
          <p:cNvSpPr/>
          <p:nvPr/>
        </p:nvSpPr>
        <p:spPr>
          <a:xfrm>
            <a:off x="731520" y="1463040"/>
            <a:ext cx="3328416" cy="46634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59E0B"/>
                </a:solidFill>
              </a:defRPr>
            </a:pPr>
            <a:r>
              <a:t>1. The Cyberchondria Panic Loop</a:t>
            </a:r>
          </a:p>
          <a:p>
            <a:pPr>
              <a:spcAft>
                <a:spcPts val="300"/>
              </a:spcAft>
              <a:defRPr sz="1050">
                <a:solidFill>
                  <a:srgbClr val="F8FAFC"/>
                </a:solidFill>
              </a:defRPr>
            </a:pPr>
            <a:r>
              <a:t>• Millions search common bodily signals: eyelid twitches, post-coffee heart palpitations, or 1.5kg scale jumps.</a:t>
            </a:r>
          </a:p>
          <a:p>
            <a:pPr>
              <a:spcAft>
                <a:spcPts val="300"/>
              </a:spcAft>
              <a:defRPr sz="1050">
                <a:solidFill>
                  <a:srgbClr val="F8FAFC"/>
                </a:solidFill>
              </a:defRPr>
            </a:pPr>
            <a:r>
              <a:t>• Ad-driven search engines rank catastrophic worst-case diagnoses (ALS, cardiac failure, renal collapse) to drive page views.</a:t>
            </a:r>
          </a:p>
          <a:p>
            <a:pPr>
              <a:spcAft>
                <a:spcPts val="300"/>
              </a:spcAft>
              <a:defRPr sz="1050">
                <a:solidFill>
                  <a:srgbClr val="F8FAFC"/>
                </a:solidFill>
              </a:defRPr>
            </a:pPr>
            <a:r>
              <a:t>• Triggers acute health anxiety, elevates sympathetic cortisol &amp; blood pressure, causing more physical symptoms.</a:t>
            </a:r>
          </a:p>
          <a:p>
            <a:pPr>
              <a:spcAft>
                <a:spcPts val="300"/>
              </a:spcAft>
              <a:defRPr sz="1050">
                <a:solidFill>
                  <a:srgbClr val="F8FAFC"/>
                </a:solidFill>
              </a:defRPr>
            </a:pPr>
            <a:r>
              <a:t>• Overwhelms primary care clinics and emergency departments with unnecessary panic visits.</a:t>
            </a:r>
          </a:p>
        </p:txBody>
      </p:sp>
      <p:sp>
        <p:nvSpPr>
          <p:cNvPr id="5" name="Rounded Rectangle 4"/>
          <p:cNvSpPr/>
          <p:nvPr/>
        </p:nvSpPr>
        <p:spPr>
          <a:xfrm>
            <a:off x="4425696" y="1463040"/>
            <a:ext cx="3328416" cy="46634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2. Bedtime Screen Fatigue &amp; Sleep Debt</a:t>
            </a:r>
          </a:p>
          <a:p>
            <a:pPr>
              <a:spcAft>
                <a:spcPts val="300"/>
              </a:spcAft>
              <a:defRPr sz="1050">
                <a:solidFill>
                  <a:srgbClr val="F8FAFC"/>
                </a:solidFill>
              </a:defRPr>
            </a:pPr>
            <a:r>
              <a:t>• Average knowledge worker spends 7-10 hours on screens plus 45-90 minutes doomscrolling in bed.</a:t>
            </a:r>
          </a:p>
          <a:p>
            <a:pPr>
              <a:spcAft>
                <a:spcPts val="300"/>
              </a:spcAft>
              <a:defRPr sz="1050">
                <a:solidFill>
                  <a:srgbClr val="F8FAFC"/>
                </a:solidFill>
              </a:defRPr>
            </a:pPr>
            <a:r>
              <a:t>• Short-wavelength blue light suppresses pineal melatonin production.</a:t>
            </a:r>
          </a:p>
          <a:p>
            <a:pPr>
              <a:spcAft>
                <a:spcPts val="300"/>
              </a:spcAft>
              <a:defRPr sz="1050">
                <a:solidFill>
                  <a:srgbClr val="F8FAFC"/>
                </a:solidFill>
              </a:defRPr>
            </a:pPr>
            <a:r>
              <a:t>• Late-afternoon caffeine remains biologically active due to its 5.5-hour half-life (t_1/2 = 5.5h).</a:t>
            </a:r>
          </a:p>
          <a:p>
            <a:pPr>
              <a:spcAft>
                <a:spcPts val="300"/>
              </a:spcAft>
              <a:defRPr sz="1050">
                <a:solidFill>
                  <a:srgbClr val="F8FAFC"/>
                </a:solidFill>
              </a:defRPr>
            </a:pPr>
            <a:r>
              <a:t>• Causes severe sleep latency (30-60 min), chronic sleep debt, and accelerates digital burnout and metabolic decline.</a:t>
            </a:r>
          </a:p>
        </p:txBody>
      </p:sp>
      <p:sp>
        <p:nvSpPr>
          <p:cNvPr id="6" name="Rounded Rectangle 5"/>
          <p:cNvSpPr/>
          <p:nvPr/>
        </p:nvSpPr>
        <p:spPr>
          <a:xfrm>
            <a:off x="8119872" y="1463040"/>
            <a:ext cx="3328416" cy="46634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EF4444"/>
                </a:solidFill>
              </a:defRPr>
            </a:pPr>
            <a:r>
              <a:t>3. Cloud Surveillance &amp; AI Hallucinations</a:t>
            </a:r>
          </a:p>
          <a:p>
            <a:pPr>
              <a:spcAft>
                <a:spcPts val="300"/>
              </a:spcAft>
              <a:defRPr sz="1050">
                <a:solidFill>
                  <a:srgbClr val="F8FAFC"/>
                </a:solidFill>
              </a:defRPr>
            </a:pPr>
            <a:r>
              <a:t>• Commercial fitness trackers upload sensitive biometrics to third-party cloud brokers and advertisers.</a:t>
            </a:r>
          </a:p>
          <a:p>
            <a:pPr>
              <a:spcAft>
                <a:spcPts val="300"/>
              </a:spcAft>
              <a:defRPr sz="1050">
                <a:solidFill>
                  <a:srgbClr val="F8FAFC"/>
                </a:solidFill>
              </a:defRPr>
            </a:pPr>
            <a:r>
              <a:t>• Users hesitate to log real health conditions due to legitimate privacy fears.</a:t>
            </a:r>
          </a:p>
          <a:p>
            <a:pPr>
              <a:spcAft>
                <a:spcPts val="300"/>
              </a:spcAft>
              <a:defRPr sz="1050">
                <a:solidFill>
                  <a:srgbClr val="F8FAFC"/>
                </a:solidFill>
              </a:defRPr>
            </a:pPr>
            <a:r>
              <a:t>• Cloud LLMs act as ungrounded black boxes, hallucinating dietary targets and contradictory medical claims.</a:t>
            </a:r>
          </a:p>
          <a:p>
            <a:pPr>
              <a:spcAft>
                <a:spcPts val="300"/>
              </a:spcAft>
              <a:defRPr sz="1050">
                <a:solidFill>
                  <a:srgbClr val="F8FAFC"/>
                </a:solidFill>
              </a:defRPr>
            </a:pPr>
            <a:r>
              <a:t>• Zero clinical guardrails or deterministic emergency override protocols.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COMPETITIVE LANDSCAPE &amp; MARKET GAPS</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Market Gap: Why Existing Solutions Fail Everyday Users</a:t>
            </a:r>
          </a:p>
        </p:txBody>
      </p:sp>
      <p:sp>
        <p:nvSpPr>
          <p:cNvPr id="4" name="Rounded Rectangle 3"/>
          <p:cNvSpPr/>
          <p:nvPr/>
        </p:nvSpPr>
        <p:spPr>
          <a:xfrm>
            <a:off x="731520" y="1463040"/>
            <a:ext cx="5120640" cy="224028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59E0B"/>
                </a:solidFill>
              </a:defRPr>
            </a:pPr>
            <a:r>
              <a:t>❌ Search Engines (Google / WebMD)</a:t>
            </a:r>
          </a:p>
          <a:p>
            <a:pPr>
              <a:spcAft>
                <a:spcPts val="300"/>
              </a:spcAft>
              <a:defRPr sz="1050">
                <a:solidFill>
                  <a:srgbClr val="F8FAFC"/>
                </a:solidFill>
              </a:defRPr>
            </a:pPr>
            <a:r>
              <a:t>• Monetize ad clicks by surfacing rare, terrifying pathologies for benign symptoms.</a:t>
            </a:r>
          </a:p>
          <a:p>
            <a:pPr>
              <a:spcAft>
                <a:spcPts val="300"/>
              </a:spcAft>
              <a:defRPr sz="1050">
                <a:solidFill>
                  <a:srgbClr val="F8FAFC"/>
                </a:solidFill>
              </a:defRPr>
            </a:pPr>
            <a:r>
              <a:t>• Zero awareness of user vitals, caffeine clearance, or hydration context.</a:t>
            </a:r>
          </a:p>
          <a:p>
            <a:pPr>
              <a:spcAft>
                <a:spcPts val="300"/>
              </a:spcAft>
              <a:defRPr sz="1050">
                <a:solidFill>
                  <a:srgbClr val="F8FAFC"/>
                </a:solidFill>
              </a:defRPr>
            </a:pPr>
            <a:r>
              <a:t>• Converts harmless muscle twitches into acute psychiatric health anxiety.</a:t>
            </a:r>
          </a:p>
        </p:txBody>
      </p:sp>
      <p:sp>
        <p:nvSpPr>
          <p:cNvPr id="5" name="Rounded Rectangle 4"/>
          <p:cNvSpPr/>
          <p:nvPr/>
        </p:nvSpPr>
        <p:spPr>
          <a:xfrm>
            <a:off x="6217920" y="1463040"/>
            <a:ext cx="5120640" cy="224028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 Fragmented Web Calculators</a:t>
            </a:r>
          </a:p>
          <a:p>
            <a:pPr>
              <a:spcAft>
                <a:spcPts val="300"/>
              </a:spcAft>
              <a:defRPr sz="1050">
                <a:solidFill>
                  <a:srgbClr val="F8FAFC"/>
                </a:solidFill>
              </a:defRPr>
            </a:pPr>
            <a:r>
              <a:t>• Siloed calculators for calories, macros, TDEE, and sleep debt that never communicate.</a:t>
            </a:r>
          </a:p>
          <a:p>
            <a:pPr>
              <a:spcAft>
                <a:spcPts val="300"/>
              </a:spcAft>
              <a:defRPr sz="1050">
                <a:solidFill>
                  <a:srgbClr val="F8FAFC"/>
                </a:solidFill>
              </a:defRPr>
            </a:pPr>
            <a:r>
              <a:t>• Calorie advice completely ignores sleep latency, caffeine, and stress markers.</a:t>
            </a:r>
          </a:p>
          <a:p>
            <a:pPr>
              <a:spcAft>
                <a:spcPts val="300"/>
              </a:spcAft>
              <a:defRPr sz="1050">
                <a:solidFill>
                  <a:srgbClr val="F8FAFC"/>
                </a:solidFill>
              </a:defRPr>
            </a:pPr>
            <a:r>
              <a:t>• Forces users to manually synthesize conflicting advice across 5 separate websites.</a:t>
            </a:r>
          </a:p>
        </p:txBody>
      </p:sp>
      <p:sp>
        <p:nvSpPr>
          <p:cNvPr id="6" name="Rounded Rectangle 5"/>
          <p:cNvSpPr/>
          <p:nvPr/>
        </p:nvSpPr>
        <p:spPr>
          <a:xfrm>
            <a:off x="731520" y="3931920"/>
            <a:ext cx="5120640" cy="224028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EF4444"/>
                </a:solidFill>
              </a:defRPr>
            </a:pPr>
            <a:r>
              <a:t>❌ Generic Cloud Chatbots (ChatGPT / Claude)</a:t>
            </a:r>
          </a:p>
          <a:p>
            <a:pPr>
              <a:spcAft>
                <a:spcPts val="300"/>
              </a:spcAft>
              <a:defRPr sz="1050">
                <a:solidFill>
                  <a:srgbClr val="F8FAFC"/>
                </a:solidFill>
              </a:defRPr>
            </a:pPr>
            <a:r>
              <a:t>• Ungrounded black boxes prone to mathematical and dietary hallucinations.</a:t>
            </a:r>
          </a:p>
          <a:p>
            <a:pPr>
              <a:spcAft>
                <a:spcPts val="300"/>
              </a:spcAft>
              <a:defRPr sz="1050">
                <a:solidFill>
                  <a:srgbClr val="F8FAFC"/>
                </a:solidFill>
              </a:defRPr>
            </a:pPr>
            <a:r>
              <a:t>• Transmit private health prompts across third-party cloud infrastructure.</a:t>
            </a:r>
          </a:p>
          <a:p>
            <a:pPr>
              <a:spcAft>
                <a:spcPts val="300"/>
              </a:spcAft>
              <a:defRPr sz="1050">
                <a:solidFill>
                  <a:srgbClr val="F8FAFC"/>
                </a:solidFill>
              </a:defRPr>
            </a:pPr>
            <a:r>
              <a:t>• Lacks deterministic clinical triage or emergency override boundaries.</a:t>
            </a:r>
          </a:p>
        </p:txBody>
      </p:sp>
      <p:sp>
        <p:nvSpPr>
          <p:cNvPr id="7" name="Rounded Rectangle 6"/>
          <p:cNvSpPr/>
          <p:nvPr/>
        </p:nvSpPr>
        <p:spPr>
          <a:xfrm>
            <a:off x="6217920" y="3931920"/>
            <a:ext cx="5120640" cy="224028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10B981"/>
                </a:solidFill>
              </a:defRPr>
            </a:pPr>
            <a:r>
              <a:t>❌ Subscription Wearables (Whoop / Oura Cloud)</a:t>
            </a:r>
          </a:p>
          <a:p>
            <a:pPr>
              <a:spcAft>
                <a:spcPts val="300"/>
              </a:spcAft>
              <a:defRPr sz="1050">
                <a:solidFill>
                  <a:srgbClr val="F8FAFC"/>
                </a:solidFill>
              </a:defRPr>
            </a:pPr>
            <a:r>
              <a:t>• Expensive $300+/year paywalls locking biometrics in proprietary cloud silos.</a:t>
            </a:r>
          </a:p>
          <a:p>
            <a:pPr>
              <a:spcAft>
                <a:spcPts val="300"/>
              </a:spcAft>
              <a:defRPr sz="1050">
                <a:solidFill>
                  <a:srgbClr val="F8FAFC"/>
                </a:solidFill>
              </a:defRPr>
            </a:pPr>
            <a:r>
              <a:t>• Inaccessible to students, developers, and low-income demographics.</a:t>
            </a:r>
          </a:p>
          <a:p>
            <a:pPr>
              <a:spcAft>
                <a:spcPts val="300"/>
              </a:spcAft>
              <a:defRPr sz="1050">
                <a:solidFill>
                  <a:srgbClr val="F8FAFC"/>
                </a:solidFill>
              </a:defRPr>
            </a:pPr>
            <a:r>
              <a:t>• Passive metric display without actionable, grounded anti-anxiety explanations.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SYSTEM ARCHITECTURE &amp; CORE INNOVATION</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The Solution: Homogeneous Single-Payload Architecture</a:t>
            </a:r>
          </a:p>
        </p:txBody>
      </p:sp>
      <p:sp>
        <p:nvSpPr>
          <p:cNvPr id="4" name="Rounded Rectangle 3"/>
          <p:cNvSpPr/>
          <p:nvPr/>
        </p:nvSpPr>
        <p:spPr>
          <a:xfrm>
            <a:off x="731520" y="1463040"/>
            <a:ext cx="512064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Step 1: Unified Schema Contract</a:t>
            </a:r>
          </a:p>
          <a:p>
            <a:pPr>
              <a:spcAft>
                <a:spcPts val="300"/>
              </a:spcAft>
              <a:defRPr sz="1050">
                <a:solidFill>
                  <a:srgbClr val="F8FAFC"/>
                </a:solidFill>
              </a:defRPr>
            </a:pPr>
            <a:r>
              <a:t>• UserHealthProfile Pydantic object validates biometrics, sleep, bedtime screens, caffeine, and symptoms.</a:t>
            </a:r>
          </a:p>
        </p:txBody>
      </p:sp>
      <p:sp>
        <p:nvSpPr>
          <p:cNvPr id="5" name="Rounded Rectangle 4"/>
          <p:cNvSpPr/>
          <p:nvPr/>
        </p:nvSpPr>
        <p:spPr>
          <a:xfrm>
            <a:off x="6217920" y="1463040"/>
            <a:ext cx="512064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10B981"/>
                </a:solidFill>
              </a:defRPr>
            </a:pPr>
            <a:r>
              <a:t>Step 2: Biophysical Engine (&lt;1ms)</a:t>
            </a:r>
          </a:p>
          <a:p>
            <a:pPr>
              <a:spcAft>
                <a:spcPts val="300"/>
              </a:spcAft>
              <a:defRPr sz="1050">
                <a:solidFill>
                  <a:srgbClr val="F8FAFC"/>
                </a:solidFill>
              </a:defRPr>
            </a:pPr>
            <a:r>
              <a:t>• Calculates Mifflin/Katch BMR, dynamic macro partitioning, caffeine clearance curve, and scale weight bounds.</a:t>
            </a:r>
          </a:p>
        </p:txBody>
      </p:sp>
      <p:sp>
        <p:nvSpPr>
          <p:cNvPr id="6" name="Rounded Rectangle 5"/>
          <p:cNvSpPr/>
          <p:nvPr/>
        </p:nvSpPr>
        <p:spPr>
          <a:xfrm>
            <a:off x="731520" y="3063240"/>
            <a:ext cx="512064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59E0B"/>
                </a:solidFill>
              </a:defRPr>
            </a:pPr>
            <a:r>
              <a:t>Step 3: 5 ML Ensembles (~4ms)</a:t>
            </a:r>
          </a:p>
          <a:p>
            <a:pPr>
              <a:spcAft>
                <a:spcPts val="300"/>
              </a:spcAft>
              <a:defRPr sz="1050">
                <a:solidFill>
                  <a:srgbClr val="F8FAFC"/>
                </a:solidFill>
              </a:defRPr>
            </a:pPr>
            <a:r>
              <a:t>• Singleton MLInferenceEngine runs models for 10-Yr Cardio Risk, Pre-Diabetes, Sleep Latency, and Burnout.</a:t>
            </a:r>
          </a:p>
        </p:txBody>
      </p:sp>
      <p:sp>
        <p:nvSpPr>
          <p:cNvPr id="7" name="Rounded Rectangle 6"/>
          <p:cNvSpPr/>
          <p:nvPr/>
        </p:nvSpPr>
        <p:spPr>
          <a:xfrm>
            <a:off x="6217920" y="3063240"/>
            <a:ext cx="512064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EF4444"/>
                </a:solidFill>
              </a:defRPr>
            </a:pPr>
            <a:r>
              <a:t>Step 4: Clinical Safety Triage (&lt;0.1ms)</a:t>
            </a:r>
          </a:p>
          <a:p>
            <a:pPr>
              <a:spcAft>
                <a:spcPts val="300"/>
              </a:spcAft>
              <a:defRPr sz="1050">
                <a:solidFill>
                  <a:srgbClr val="F8FAFC"/>
                </a:solidFill>
              </a:defRPr>
            </a:pPr>
            <a:r>
              <a:t>• Deterministic rules evaluate AHA blood pressure staging and red flags; assigns Green, Yellow, or Red Override.</a:t>
            </a:r>
          </a:p>
        </p:txBody>
      </p:sp>
      <p:sp>
        <p:nvSpPr>
          <p:cNvPr id="8" name="Rounded Rectangle 7"/>
          <p:cNvSpPr/>
          <p:nvPr/>
        </p:nvSpPr>
        <p:spPr>
          <a:xfrm>
            <a:off x="731520" y="4663440"/>
            <a:ext cx="512064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A855F7"/>
                </a:solidFill>
              </a:defRPr>
            </a:pPr>
            <a:r>
              <a:t>Step 5: Master Diagnostic Payload</a:t>
            </a:r>
          </a:p>
          <a:p>
            <a:pPr>
              <a:spcAft>
                <a:spcPts val="300"/>
              </a:spcAft>
              <a:defRPr sz="1050">
                <a:solidFill>
                  <a:srgbClr val="F8FAFC"/>
                </a:solidFill>
              </a:defRPr>
            </a:pPr>
            <a:r>
              <a:t>• Bundles all metrics, calibrated percentages, and flags into a tamper-proof ComprehensiveDiagnosticPayload JSON.</a:t>
            </a:r>
          </a:p>
        </p:txBody>
      </p:sp>
      <p:sp>
        <p:nvSpPr>
          <p:cNvPr id="9" name="Rounded Rectangle 8"/>
          <p:cNvSpPr/>
          <p:nvPr/>
        </p:nvSpPr>
        <p:spPr>
          <a:xfrm>
            <a:off x="6217920" y="4663440"/>
            <a:ext cx="512064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Step 6: Local Qwen GPU Synthesis (1-2s)</a:t>
            </a:r>
          </a:p>
          <a:p>
            <a:pPr>
              <a:spcAft>
                <a:spcPts val="300"/>
              </a:spcAft>
              <a:defRPr sz="1050">
                <a:solidFill>
                  <a:srgbClr val="F8FAFC"/>
                </a:solidFill>
              </a:defRPr>
            </a:pPr>
            <a:r>
              <a:t>• Ollama feeds payload to local Qwen 0.8B on GPU for empathetic plain-English translation without hallucination.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PRODUCT SHOWCASE • METABOLIC &amp; CARDIOVASCULAR INTELLIGENCE</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Production Dashboard: Multi-Risk Gauges &amp; Macro Nutrition</a:t>
            </a:r>
          </a:p>
        </p:txBody>
      </p:sp>
      <p:sp>
        <p:nvSpPr>
          <p:cNvPr id="4" name="Rounded Rectangle 3"/>
          <p:cNvSpPr/>
          <p:nvPr/>
        </p:nvSpPr>
        <p:spPr>
          <a:xfrm>
            <a:off x="731520" y="1371600"/>
            <a:ext cx="6217920" cy="4754880"/>
          </a:xfrm>
          <a:prstGeom prst="roundRect">
            <a:avLst/>
          </a:prstGeom>
          <a:solidFill>
            <a:srgbClr val="131C31"/>
          </a:solidFill>
          <a:ln w="1905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ctr">
              <a:defRPr sz="950" b="1">
                <a:solidFill>
                  <a:srgbClr val="38BDF8"/>
                </a:solidFill>
              </a:defRPr>
            </a:pPr>
            <a:r>
              <a:t>🖥️ LIVE DASHBOARD OVERVIEW &amp; RISK DIALS</a:t>
            </a:r>
          </a:p>
        </p:txBody>
      </p:sp>
      <p:pic>
        <p:nvPicPr>
          <p:cNvPr id="5" name="Picture 4" descr="dashboard_overview.png"/>
          <p:cNvPicPr>
            <a:picLocks noChangeAspect="1"/>
          </p:cNvPicPr>
          <p:nvPr/>
        </p:nvPicPr>
        <p:blipFill>
          <a:blip r:embed="rId2"/>
          <a:stretch>
            <a:fillRect/>
          </a:stretch>
        </p:blipFill>
        <p:spPr>
          <a:xfrm>
            <a:off x="841248" y="1691640"/>
            <a:ext cx="5998464" cy="4325112"/>
          </a:xfrm>
          <a:prstGeom prst="rect">
            <a:avLst/>
          </a:prstGeom>
        </p:spPr>
      </p:pic>
      <p:sp>
        <p:nvSpPr>
          <p:cNvPr id="6" name="Rounded Rectangle 5"/>
          <p:cNvSpPr/>
          <p:nvPr/>
        </p:nvSpPr>
        <p:spPr>
          <a:xfrm>
            <a:off x="7132320" y="1371600"/>
            <a:ext cx="4297680" cy="2651760"/>
          </a:xfrm>
          <a:prstGeom prst="roundRect">
            <a:avLst/>
          </a:prstGeom>
          <a:solidFill>
            <a:srgbClr val="131C31"/>
          </a:solidFill>
          <a:ln w="1905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ctr">
              <a:defRPr sz="950" b="1">
                <a:solidFill>
                  <a:srgbClr val="38BDF8"/>
                </a:solidFill>
              </a:defRPr>
            </a:pPr>
            <a:r>
              <a:t>🖥️ DYNAMIC MACRONUTRIENT DONUT</a:t>
            </a:r>
          </a:p>
        </p:txBody>
      </p:sp>
      <p:pic>
        <p:nvPicPr>
          <p:cNvPr id="7" name="Picture 6" descr="macros_nutrition.png"/>
          <p:cNvPicPr>
            <a:picLocks noChangeAspect="1"/>
          </p:cNvPicPr>
          <p:nvPr/>
        </p:nvPicPr>
        <p:blipFill>
          <a:blip r:embed="rId3"/>
          <a:stretch>
            <a:fillRect/>
          </a:stretch>
        </p:blipFill>
        <p:spPr>
          <a:xfrm>
            <a:off x="7242048" y="1691640"/>
            <a:ext cx="4078224" cy="2221992"/>
          </a:xfrm>
          <a:prstGeom prst="rect">
            <a:avLst/>
          </a:prstGeom>
        </p:spPr>
      </p:pic>
      <p:sp>
        <p:nvSpPr>
          <p:cNvPr id="8" name="Rounded Rectangle 7"/>
          <p:cNvSpPr/>
          <p:nvPr/>
        </p:nvSpPr>
        <p:spPr>
          <a:xfrm>
            <a:off x="7132320" y="4160520"/>
            <a:ext cx="4297680" cy="196596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10B981"/>
                </a:solidFill>
              </a:defRPr>
            </a:pPr>
            <a:r>
              <a:t>Metabolic Intelligence Highlights</a:t>
            </a:r>
          </a:p>
          <a:p>
            <a:pPr>
              <a:spcAft>
                <a:spcPts val="300"/>
              </a:spcAft>
              <a:defRPr sz="1050">
                <a:solidFill>
                  <a:srgbClr val="F8FAFC"/>
                </a:solidFill>
              </a:defRPr>
            </a:pPr>
            <a:r>
              <a:t>• Live 5-Dial SVG Risk Matrix: Visual color-coded risk probabilities.</a:t>
            </a:r>
          </a:p>
          <a:p>
            <a:pPr>
              <a:spcAft>
                <a:spcPts val="300"/>
              </a:spcAft>
              <a:defRPr sz="1050">
                <a:solidFill>
                  <a:srgbClr val="F8FAFC"/>
                </a:solidFill>
              </a:defRPr>
            </a:pPr>
            <a:r>
              <a:t>• Dynamic Macronutrient Partitioning: 1.8g/kg protein &amp; essential fat floor.</a:t>
            </a:r>
          </a:p>
          <a:p>
            <a:pPr>
              <a:spcAft>
                <a:spcPts val="300"/>
              </a:spcAft>
              <a:defRPr sz="1050">
                <a:solidFill>
                  <a:srgbClr val="F8FAFC"/>
                </a:solidFill>
              </a:defRPr>
            </a:pPr>
            <a:r>
              <a:t>• Real-Time Vitals: Resting BP, Heart Rate &amp; SpO2 with AHA staging.</a:t>
            </a:r>
          </a:p>
          <a:p>
            <a:pPr>
              <a:spcAft>
                <a:spcPts val="300"/>
              </a:spcAft>
              <a:defRPr sz="1050">
                <a:solidFill>
                  <a:srgbClr val="F8FAFC"/>
                </a:solidFill>
              </a:defRPr>
            </a:pPr>
            <a:r>
              <a:t>• Sub-30ms REST API: Instantaneous payload calculation via FastAPI.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PRODUCT SHOWCASE • CIRCADIAN &amp; SLEEP ARCHITECTURE</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24-Hour Caffeine Clock &amp; Bedtime Stimulant Clearance</a:t>
            </a:r>
          </a:p>
        </p:txBody>
      </p:sp>
      <p:sp>
        <p:nvSpPr>
          <p:cNvPr id="4" name="Rounded Rectangle 3"/>
          <p:cNvSpPr/>
          <p:nvPr/>
        </p:nvSpPr>
        <p:spPr>
          <a:xfrm>
            <a:off x="731520" y="1371600"/>
            <a:ext cx="6766560" cy="4754880"/>
          </a:xfrm>
          <a:prstGeom prst="roundRect">
            <a:avLst/>
          </a:prstGeom>
          <a:solidFill>
            <a:srgbClr val="131C31"/>
          </a:solidFill>
          <a:ln w="1905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ctr">
              <a:defRPr sz="950" b="1">
                <a:solidFill>
                  <a:srgbClr val="38BDF8"/>
                </a:solidFill>
              </a:defRPr>
            </a:pPr>
            <a:r>
              <a:t>🖥️ 24-HOUR CAFFEINE ELIMINATION DECAY CURVE</a:t>
            </a:r>
          </a:p>
        </p:txBody>
      </p:sp>
      <p:pic>
        <p:nvPicPr>
          <p:cNvPr id="5" name="Picture 4" descr="caffeine_circadian.png"/>
          <p:cNvPicPr>
            <a:picLocks noChangeAspect="1"/>
          </p:cNvPicPr>
          <p:nvPr/>
        </p:nvPicPr>
        <p:blipFill>
          <a:blip r:embed="rId2"/>
          <a:stretch>
            <a:fillRect/>
          </a:stretch>
        </p:blipFill>
        <p:spPr>
          <a:xfrm>
            <a:off x="841248" y="1691640"/>
            <a:ext cx="6547104" cy="4325112"/>
          </a:xfrm>
          <a:prstGeom prst="rect">
            <a:avLst/>
          </a:prstGeom>
        </p:spPr>
      </p:pic>
      <p:sp>
        <p:nvSpPr>
          <p:cNvPr id="6" name="Rounded Rectangle 5"/>
          <p:cNvSpPr/>
          <p:nvPr/>
        </p:nvSpPr>
        <p:spPr>
          <a:xfrm>
            <a:off x="7680960" y="1371600"/>
            <a:ext cx="3749039" cy="224028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Pharmacokinetic Half-Life Model</a:t>
            </a:r>
          </a:p>
          <a:p>
            <a:pPr>
              <a:spcAft>
                <a:spcPts val="300"/>
              </a:spcAft>
              <a:defRPr sz="1050">
                <a:solidFill>
                  <a:srgbClr val="F8FAFC"/>
                </a:solidFill>
              </a:defRPr>
            </a:pPr>
            <a:r>
              <a:t>• First-order elimination: C(t) = C0 * (0.5)^(t / 5.5)</a:t>
            </a:r>
          </a:p>
          <a:p>
            <a:pPr>
              <a:spcAft>
                <a:spcPts val="300"/>
              </a:spcAft>
              <a:defRPr sz="1050">
                <a:solidFill>
                  <a:srgbClr val="F8FAFC"/>
                </a:solidFill>
              </a:defRPr>
            </a:pPr>
            <a:r>
              <a:t>• Models 24-hour serum stimulant clearance.</a:t>
            </a:r>
          </a:p>
          <a:p>
            <a:pPr>
              <a:spcAft>
                <a:spcPts val="300"/>
              </a:spcAft>
              <a:defRPr sz="1050">
                <a:solidFill>
                  <a:srgbClr val="F8FAFC"/>
                </a:solidFill>
              </a:defRPr>
            </a:pPr>
            <a:r>
              <a:t>• Bedtime Cutoff Threshold: Flags whenever active caffeine exceeds 25mg at scheduled sleep time.</a:t>
            </a:r>
          </a:p>
          <a:p>
            <a:pPr>
              <a:spcAft>
                <a:spcPts val="300"/>
              </a:spcAft>
              <a:defRPr sz="1050">
                <a:solidFill>
                  <a:srgbClr val="F8FAFC"/>
                </a:solidFill>
              </a:defRPr>
            </a:pPr>
            <a:r>
              <a:t>• Curfew Calculator: Computes exact hour to halt coffee.</a:t>
            </a:r>
          </a:p>
        </p:txBody>
      </p:sp>
      <p:sp>
        <p:nvSpPr>
          <p:cNvPr id="7" name="Rounded Rectangle 6"/>
          <p:cNvSpPr/>
          <p:nvPr/>
        </p:nvSpPr>
        <p:spPr>
          <a:xfrm>
            <a:off x="7680960" y="3794760"/>
            <a:ext cx="3749039" cy="23317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59E0B"/>
                </a:solidFill>
              </a:defRPr>
            </a:pPr>
            <a:r>
              <a:t>Anti-Anxiety Demystification</a:t>
            </a:r>
          </a:p>
          <a:p>
            <a:pPr>
              <a:spcAft>
                <a:spcPts val="300"/>
              </a:spcAft>
              <a:defRPr sz="1050">
                <a:solidFill>
                  <a:srgbClr val="F8FAFC"/>
                </a:solidFill>
              </a:defRPr>
            </a:pPr>
            <a:r>
              <a:t>• Explains post-coffee heart palpitations as benign adenosine receptor blockade, NOT cardiac failure.</a:t>
            </a:r>
          </a:p>
          <a:p>
            <a:pPr>
              <a:spcAft>
                <a:spcPts val="300"/>
              </a:spcAft>
              <a:defRPr sz="1050">
                <a:solidFill>
                  <a:srgbClr val="F8FAFC"/>
                </a:solidFill>
              </a:defRPr>
            </a:pPr>
            <a:r>
              <a:t>• Correlates bedtime screen blue light with melatonin inhibition.</a:t>
            </a:r>
          </a:p>
          <a:p>
            <a:pPr>
              <a:spcAft>
                <a:spcPts val="300"/>
              </a:spcAft>
              <a:defRPr sz="1050">
                <a:solidFill>
                  <a:srgbClr val="F8FAFC"/>
                </a:solidFill>
              </a:defRPr>
            </a:pPr>
            <a:r>
              <a:t>• Reduces average sleep latency by 15-30 minutes through behavioral habit curfews.</a:t>
            </a:r>
          </a:p>
          <a:p>
            <a:pPr>
              <a:spcAft>
                <a:spcPts val="300"/>
              </a:spcAft>
              <a:defRPr sz="1050">
                <a:solidFill>
                  <a:srgbClr val="F8FAFC"/>
                </a:solidFill>
              </a:defRPr>
            </a:pPr>
            <a:r>
              <a:t>• Preserves deep slow-wave sleep architecture.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PRODUCT SHOWCASE • COUNTERFACTUAL HABIT SIMULATION</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What-If Simulation Engine &amp; Nutrient Deficiency Graph</a:t>
            </a:r>
          </a:p>
        </p:txBody>
      </p:sp>
      <p:sp>
        <p:nvSpPr>
          <p:cNvPr id="4" name="Rounded Rectangle 3"/>
          <p:cNvSpPr/>
          <p:nvPr/>
        </p:nvSpPr>
        <p:spPr>
          <a:xfrm>
            <a:off x="731520" y="1371600"/>
            <a:ext cx="5212080" cy="3291840"/>
          </a:xfrm>
          <a:prstGeom prst="roundRect">
            <a:avLst/>
          </a:prstGeom>
          <a:solidFill>
            <a:srgbClr val="131C31"/>
          </a:solidFill>
          <a:ln w="1905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ctr">
              <a:defRPr sz="950" b="1">
                <a:solidFill>
                  <a:srgbClr val="38BDF8"/>
                </a:solidFill>
              </a:defRPr>
            </a:pPr>
            <a:r>
              <a:t>🖥️ INTERACTIVE 'WHAT-IF' HABIT SIMULATOR</a:t>
            </a:r>
          </a:p>
        </p:txBody>
      </p:sp>
      <p:pic>
        <p:nvPicPr>
          <p:cNvPr id="5" name="Picture 4" descr="what_if_simulator.png"/>
          <p:cNvPicPr>
            <a:picLocks noChangeAspect="1"/>
          </p:cNvPicPr>
          <p:nvPr/>
        </p:nvPicPr>
        <p:blipFill>
          <a:blip r:embed="rId2"/>
          <a:stretch>
            <a:fillRect/>
          </a:stretch>
        </p:blipFill>
        <p:spPr>
          <a:xfrm>
            <a:off x="841248" y="1691640"/>
            <a:ext cx="4992624" cy="2862072"/>
          </a:xfrm>
          <a:prstGeom prst="rect">
            <a:avLst/>
          </a:prstGeom>
        </p:spPr>
      </p:pic>
      <p:sp>
        <p:nvSpPr>
          <p:cNvPr id="6" name="Rounded Rectangle 5"/>
          <p:cNvSpPr/>
          <p:nvPr/>
        </p:nvSpPr>
        <p:spPr>
          <a:xfrm>
            <a:off x="6217920" y="1371600"/>
            <a:ext cx="5212080" cy="3291840"/>
          </a:xfrm>
          <a:prstGeom prst="roundRect">
            <a:avLst/>
          </a:prstGeom>
          <a:solidFill>
            <a:srgbClr val="131C31"/>
          </a:solidFill>
          <a:ln w="1905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ctr">
              <a:defRPr sz="950" b="1">
                <a:solidFill>
                  <a:srgbClr val="38BDF8"/>
                </a:solidFill>
              </a:defRPr>
            </a:pPr>
            <a:r>
              <a:t>🖥️ FUNCTIONAL MICRONUTRIENT KNOWLEDGE MATRIX</a:t>
            </a:r>
          </a:p>
        </p:txBody>
      </p:sp>
      <p:pic>
        <p:nvPicPr>
          <p:cNvPr id="7" name="Picture 6" descr="nutrient_matrix.png"/>
          <p:cNvPicPr>
            <a:picLocks noChangeAspect="1"/>
          </p:cNvPicPr>
          <p:nvPr/>
        </p:nvPicPr>
        <p:blipFill>
          <a:blip r:embed="rId3"/>
          <a:stretch>
            <a:fillRect/>
          </a:stretch>
        </p:blipFill>
        <p:spPr>
          <a:xfrm>
            <a:off x="6327648" y="1691640"/>
            <a:ext cx="4992624" cy="2862072"/>
          </a:xfrm>
          <a:prstGeom prst="rect">
            <a:avLst/>
          </a:prstGeom>
        </p:spPr>
      </p:pic>
      <p:sp>
        <p:nvSpPr>
          <p:cNvPr id="8" name="Rounded Rectangle 7"/>
          <p:cNvSpPr/>
          <p:nvPr/>
        </p:nvSpPr>
        <p:spPr>
          <a:xfrm>
            <a:off x="731520" y="4800600"/>
            <a:ext cx="521208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10B981"/>
                </a:solidFill>
              </a:defRPr>
            </a:pPr>
            <a:r>
              <a:t>Counterfactual 'What-If' Simulation</a:t>
            </a:r>
          </a:p>
          <a:p>
            <a:pPr>
              <a:spcAft>
                <a:spcPts val="300"/>
              </a:spcAft>
              <a:defRPr sz="1050">
                <a:solidFill>
                  <a:srgbClr val="F8FAFC"/>
                </a:solidFill>
              </a:defRPr>
            </a:pPr>
            <a:r>
              <a:t>• Live sliders for bedtime screen minutes (-45 min) and daily steps (+3,000).</a:t>
            </a:r>
          </a:p>
          <a:p>
            <a:pPr>
              <a:spcAft>
                <a:spcPts val="300"/>
              </a:spcAft>
              <a:defRPr sz="1050">
                <a:solidFill>
                  <a:srgbClr val="F8FAFC"/>
                </a:solidFill>
              </a:defRPr>
            </a:pPr>
            <a:r>
              <a:t>• Forecasts projected sleep latency drop (-18 min) and cardiovascular risk decrease.</a:t>
            </a:r>
          </a:p>
          <a:p>
            <a:pPr>
              <a:spcAft>
                <a:spcPts val="300"/>
              </a:spcAft>
              <a:defRPr sz="1050">
                <a:solidFill>
                  <a:srgbClr val="F8FAFC"/>
                </a:solidFill>
              </a:defRPr>
            </a:pPr>
            <a:r>
              <a:t>• Turns passive health tracking into proactive, actionable lifestyle experimentation.</a:t>
            </a:r>
          </a:p>
        </p:txBody>
      </p:sp>
      <p:sp>
        <p:nvSpPr>
          <p:cNvPr id="9" name="Rounded Rectangle 8"/>
          <p:cNvSpPr/>
          <p:nvPr/>
        </p:nvSpPr>
        <p:spPr>
          <a:xfrm>
            <a:off x="6217920" y="4800600"/>
            <a:ext cx="521208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A855F7"/>
                </a:solidFill>
              </a:defRPr>
            </a:pPr>
            <a:r>
              <a:t>Biochemical Deficiency Mapping</a:t>
            </a:r>
          </a:p>
          <a:p>
            <a:pPr>
              <a:spcAft>
                <a:spcPts val="300"/>
              </a:spcAft>
              <a:defRPr sz="1050">
                <a:solidFill>
                  <a:srgbClr val="F8FAFC"/>
                </a:solidFill>
              </a:defRPr>
            </a:pPr>
            <a:r>
              <a:t>• Connects brain fog, muscle twitches, and afternoon crashes to biological cofactors.</a:t>
            </a:r>
          </a:p>
          <a:p>
            <a:pPr>
              <a:spcAft>
                <a:spcPts val="300"/>
              </a:spcAft>
              <a:defRPr sz="1050">
                <a:solidFill>
                  <a:srgbClr val="F8FAFC"/>
                </a:solidFill>
              </a:defRPr>
            </a:pPr>
            <a:r>
              <a:t>• Maps Magnesium, Potassium, B12, D3, and Ferritin to bioavailable whole-food sources.</a:t>
            </a:r>
          </a:p>
          <a:p>
            <a:pPr>
              <a:spcAft>
                <a:spcPts val="300"/>
              </a:spcAft>
              <a:defRPr sz="1050">
                <a:solidFill>
                  <a:srgbClr val="F8FAFC"/>
                </a:solidFill>
              </a:defRPr>
            </a:pPr>
            <a:r>
              <a:t>• Highlights synergy (Vit C + Iron) and absorption inhibitors (tannins, phytates).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PRODUCT SHOWCASE • SAFETY TRIAGE &amp; CLINICAL CONTINUITY</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60s Panic De-escalator &amp; 1-Page Doctor Briefing Export</a:t>
            </a:r>
          </a:p>
        </p:txBody>
      </p:sp>
      <p:sp>
        <p:nvSpPr>
          <p:cNvPr id="4" name="Rounded Rectangle 3"/>
          <p:cNvSpPr/>
          <p:nvPr/>
        </p:nvSpPr>
        <p:spPr>
          <a:xfrm>
            <a:off x="731520" y="1371600"/>
            <a:ext cx="5212080" cy="3291840"/>
          </a:xfrm>
          <a:prstGeom prst="roundRect">
            <a:avLst/>
          </a:prstGeom>
          <a:solidFill>
            <a:srgbClr val="131C31"/>
          </a:solidFill>
          <a:ln w="1905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ctr">
              <a:defRPr sz="950" b="1">
                <a:solidFill>
                  <a:srgbClr val="38BDF8"/>
                </a:solidFill>
              </a:defRPr>
            </a:pPr>
            <a:r>
              <a:t>🖥️ 60-SECOND 'AM I OKAY?' DE-ESCALATOR</a:t>
            </a:r>
          </a:p>
        </p:txBody>
      </p:sp>
      <p:pic>
        <p:nvPicPr>
          <p:cNvPr id="5" name="Picture 4" descr="anxiety_deescalator.png"/>
          <p:cNvPicPr>
            <a:picLocks noChangeAspect="1"/>
          </p:cNvPicPr>
          <p:nvPr/>
        </p:nvPicPr>
        <p:blipFill>
          <a:blip r:embed="rId2"/>
          <a:stretch>
            <a:fillRect/>
          </a:stretch>
        </p:blipFill>
        <p:spPr>
          <a:xfrm>
            <a:off x="841248" y="1691640"/>
            <a:ext cx="4992624" cy="2862072"/>
          </a:xfrm>
          <a:prstGeom prst="rect">
            <a:avLst/>
          </a:prstGeom>
        </p:spPr>
      </p:pic>
      <p:sp>
        <p:nvSpPr>
          <p:cNvPr id="6" name="Rounded Rectangle 5"/>
          <p:cNvSpPr/>
          <p:nvPr/>
        </p:nvSpPr>
        <p:spPr>
          <a:xfrm>
            <a:off x="6217920" y="1371600"/>
            <a:ext cx="5212080" cy="3291840"/>
          </a:xfrm>
          <a:prstGeom prst="roundRect">
            <a:avLst/>
          </a:prstGeom>
          <a:solidFill>
            <a:srgbClr val="131C31"/>
          </a:solidFill>
          <a:ln w="1905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ctr">
              <a:defRPr sz="950" b="1">
                <a:solidFill>
                  <a:srgbClr val="38BDF8"/>
                </a:solidFill>
              </a:defRPr>
            </a:pPr>
            <a:r>
              <a:t>🖥️ STANDARDIZED 1-PAGE DOCTOR BRIEFING</a:t>
            </a:r>
          </a:p>
        </p:txBody>
      </p:sp>
      <p:pic>
        <p:nvPicPr>
          <p:cNvPr id="7" name="Picture 6" descr="doctor_briefing.png"/>
          <p:cNvPicPr>
            <a:picLocks noChangeAspect="1"/>
          </p:cNvPicPr>
          <p:nvPr/>
        </p:nvPicPr>
        <p:blipFill>
          <a:blip r:embed="rId3"/>
          <a:stretch>
            <a:fillRect/>
          </a:stretch>
        </p:blipFill>
        <p:spPr>
          <a:xfrm>
            <a:off x="6327648" y="1691640"/>
            <a:ext cx="4992624" cy="2862072"/>
          </a:xfrm>
          <a:prstGeom prst="rect">
            <a:avLst/>
          </a:prstGeom>
        </p:spPr>
      </p:pic>
      <p:sp>
        <p:nvSpPr>
          <p:cNvPr id="8" name="Rounded Rectangle 7"/>
          <p:cNvSpPr/>
          <p:nvPr/>
        </p:nvSpPr>
        <p:spPr>
          <a:xfrm>
            <a:off x="731520" y="4800600"/>
            <a:ext cx="521208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59E0B"/>
                </a:solidFill>
              </a:defRPr>
            </a:pPr>
            <a:r>
              <a:t>Biological Reassurance &amp; Scale Mechanics</a:t>
            </a:r>
          </a:p>
          <a:p>
            <a:pPr>
              <a:spcAft>
                <a:spcPts val="300"/>
              </a:spcAft>
              <a:defRPr sz="1050">
                <a:solidFill>
                  <a:srgbClr val="F8FAFC"/>
                </a:solidFill>
              </a:defRPr>
            </a:pPr>
            <a:r>
              <a:t>• 60-Second De-escalator explains twitches as fatigue/electrolyte shifts.</a:t>
            </a:r>
          </a:p>
          <a:p>
            <a:pPr>
              <a:spcAft>
                <a:spcPts val="300"/>
              </a:spcAft>
              <a:defRPr sz="1050">
                <a:solidFill>
                  <a:srgbClr val="F8FAFC"/>
                </a:solidFill>
              </a:defRPr>
            </a:pPr>
            <a:r>
              <a:t>• Demystifies 1.5kg overnight scale jumps: 3-4g water bound per gram of glycogen.</a:t>
            </a:r>
          </a:p>
          <a:p>
            <a:pPr>
              <a:spcAft>
                <a:spcPts val="300"/>
              </a:spcAft>
              <a:defRPr sz="1050">
                <a:solidFill>
                  <a:srgbClr val="F8FAFC"/>
                </a:solidFill>
              </a:defRPr>
            </a:pPr>
            <a:r>
              <a:t>• Dismantles the acute cyberchondria loop before users rush to the emergency room.</a:t>
            </a:r>
          </a:p>
        </p:txBody>
      </p:sp>
      <p:sp>
        <p:nvSpPr>
          <p:cNvPr id="9" name="Rounded Rectangle 8"/>
          <p:cNvSpPr/>
          <p:nvPr/>
        </p:nvSpPr>
        <p:spPr>
          <a:xfrm>
            <a:off x="6217920" y="4800600"/>
            <a:ext cx="5212080" cy="141732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EF4444"/>
                </a:solidFill>
              </a:defRPr>
            </a:pPr>
            <a:r>
              <a:t>Deterministic 3-Tier Clinical Safety Triage</a:t>
            </a:r>
          </a:p>
          <a:p>
            <a:pPr>
              <a:spcAft>
                <a:spcPts val="300"/>
              </a:spcAft>
              <a:defRPr sz="1050">
                <a:solidFill>
                  <a:srgbClr val="F8FAFC"/>
                </a:solidFill>
              </a:defRPr>
            </a:pPr>
            <a:r>
              <a:t>• 🟢 Level 1 Green: Self-directed wellness coaching enabled.</a:t>
            </a:r>
          </a:p>
          <a:p>
            <a:pPr>
              <a:spcAft>
                <a:spcPts val="300"/>
              </a:spcAft>
              <a:defRPr sz="1050">
                <a:solidFill>
                  <a:srgbClr val="F8FAFC"/>
                </a:solidFill>
              </a:defRPr>
            </a:pPr>
            <a:r>
              <a:t>• 🟡 Level 2 Yellow: Routine clinical checkup recommended (Stage 1/2 Hypertension).</a:t>
            </a:r>
          </a:p>
          <a:p>
            <a:pPr>
              <a:spcAft>
                <a:spcPts val="300"/>
              </a:spcAft>
              <a:defRPr sz="1050">
                <a:solidFill>
                  <a:srgbClr val="F8FAFC"/>
                </a:solidFill>
              </a:defRPr>
            </a:pPr>
            <a:r>
              <a:t>• 🔴 Level 3 Red: Emergency lockout for BP &gt;= 180/120 or acute chest pain (calls 911/112).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SCIENTIFIC VALIDATION &amp; ML BENCHMARKS</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5 Supervised Models Trained on 500,000+ CDC Records</a:t>
            </a:r>
          </a:p>
        </p:txBody>
      </p:sp>
      <p:sp>
        <p:nvSpPr>
          <p:cNvPr id="4" name="Rounded Rectangle 3"/>
          <p:cNvSpPr/>
          <p:nvPr/>
        </p:nvSpPr>
        <p:spPr>
          <a:xfrm>
            <a:off x="731520" y="1371600"/>
            <a:ext cx="10698480" cy="7772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10B981"/>
                </a:solidFill>
              </a:defRPr>
            </a:pPr>
            <a:r>
              <a:t>1. 10-Yr Cardiovascular Risk  •  319,795 rows (CDC BRFSS 2020)</a:t>
            </a:r>
          </a:p>
          <a:p>
            <a:pPr>
              <a:spcAft>
                <a:spcPts val="300"/>
              </a:spcAft>
              <a:defRPr sz="1050">
                <a:solidFill>
                  <a:srgbClr val="F8FAFC"/>
                </a:solidFill>
              </a:defRPr>
            </a:pPr>
            <a:r>
              <a:t>• Algorithm: Balanced Logistic Regression   |   Primary Verified Benchmark: ROC-AUC: 0.817   |   Cross-validated on authentic cohorts</a:t>
            </a:r>
          </a:p>
        </p:txBody>
      </p:sp>
      <p:sp>
        <p:nvSpPr>
          <p:cNvPr id="5" name="Rounded Rectangle 4"/>
          <p:cNvSpPr/>
          <p:nvPr/>
        </p:nvSpPr>
        <p:spPr>
          <a:xfrm>
            <a:off x="731520" y="2240280"/>
            <a:ext cx="10698480" cy="7772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2. Pre-Diabetes Screener  •  70,692 rows (CDC BRFSS 50/50)</a:t>
            </a:r>
          </a:p>
          <a:p>
            <a:pPr>
              <a:spcAft>
                <a:spcPts val="300"/>
              </a:spcAft>
              <a:defRPr sz="1050">
                <a:solidFill>
                  <a:srgbClr val="F8FAFC"/>
                </a:solidFill>
              </a:defRPr>
            </a:pPr>
            <a:r>
              <a:t>• Algorithm: HistGradientBoosting Classifier   |   Primary Verified Benchmark: ROC-AUC: 0.819   |   Cross-validated on authentic cohorts</a:t>
            </a:r>
          </a:p>
        </p:txBody>
      </p:sp>
      <p:sp>
        <p:nvSpPr>
          <p:cNvPr id="6" name="Rounded Rectangle 5"/>
          <p:cNvSpPr/>
          <p:nvPr/>
        </p:nvSpPr>
        <p:spPr>
          <a:xfrm>
            <a:off x="731520" y="3108960"/>
            <a:ext cx="10698480" cy="7772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59E0B"/>
                </a:solidFill>
              </a:defRPr>
            </a:pPr>
            <a:r>
              <a:t>3. Circadian Latency &amp; Debt  •  8,500 rows (Bedtime Screentime Cohort)</a:t>
            </a:r>
          </a:p>
          <a:p>
            <a:pPr>
              <a:spcAft>
                <a:spcPts val="300"/>
              </a:spcAft>
              <a:defRPr sz="1050">
                <a:solidFill>
                  <a:srgbClr val="F8FAFC"/>
                </a:solidFill>
              </a:defRPr>
            </a:pPr>
            <a:r>
              <a:t>• Algorithm: Multi-Output Regressor &amp; Clf   |   Primary Verified Benchmark: RMSE: 6.84 min   |   Cross-validated on authentic cohorts</a:t>
            </a:r>
          </a:p>
        </p:txBody>
      </p:sp>
      <p:sp>
        <p:nvSpPr>
          <p:cNvPr id="7" name="Rounded Rectangle 6"/>
          <p:cNvSpPr/>
          <p:nvPr/>
        </p:nvSpPr>
        <p:spPr>
          <a:xfrm>
            <a:off x="731520" y="3977639"/>
            <a:ext cx="10698480" cy="7772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A855F7"/>
                </a:solidFill>
              </a:defRPr>
            </a:pPr>
            <a:r>
              <a:t>4. Sleep Pathology Classifier  •  374 rows (Clinical Polysomnography)</a:t>
            </a:r>
          </a:p>
          <a:p>
            <a:pPr>
              <a:spcAft>
                <a:spcPts val="300"/>
              </a:spcAft>
              <a:defRPr sz="1050">
                <a:solidFill>
                  <a:srgbClr val="F8FAFC"/>
                </a:solidFill>
              </a:defRPr>
            </a:pPr>
            <a:r>
              <a:t>• Algorithm: Balanced Random Forest   |   Primary Verified Benchmark: F1-Score: 0.893   |   Cross-validated on authentic cohorts</a:t>
            </a:r>
          </a:p>
        </p:txBody>
      </p:sp>
      <p:sp>
        <p:nvSpPr>
          <p:cNvPr id="8" name="Rounded Rectangle 7"/>
          <p:cNvSpPr/>
          <p:nvPr/>
        </p:nvSpPr>
        <p:spPr>
          <a:xfrm>
            <a:off x="731520" y="4846320"/>
            <a:ext cx="10698480" cy="7772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5. Digital Burnout Screener  •  100,000 rows (Student Lifestyle Cohort)</a:t>
            </a:r>
          </a:p>
          <a:p>
            <a:pPr>
              <a:spcAft>
                <a:spcPts val="300"/>
              </a:spcAft>
              <a:defRPr sz="1050">
                <a:solidFill>
                  <a:srgbClr val="F8FAFC"/>
                </a:solidFill>
              </a:defRPr>
            </a:pPr>
            <a:r>
              <a:t>• Algorithm: HistGradientBoosting Regressor   |   Primary Verified Benchmark: RMSE: 1.48 / 10   |   Cross-validated on authentic cohorts</a:t>
            </a:r>
          </a:p>
        </p:txBody>
      </p:sp>
      <p:sp>
        <p:nvSpPr>
          <p:cNvPr id="9" name="Rounded Rectangle 8"/>
          <p:cNvSpPr/>
          <p:nvPr/>
        </p:nvSpPr>
        <p:spPr>
          <a:xfrm>
            <a:off x="731520" y="5806440"/>
            <a:ext cx="10698480" cy="777240"/>
          </a:xfrm>
          <a:prstGeom prst="roundRect">
            <a:avLst/>
          </a:prstGeom>
          <a:solidFill>
            <a:srgbClr val="131C31"/>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F8FAFC"/>
                </a:solidFill>
              </a:defRPr>
            </a:pPr>
            <a:r>
              <a:t>Local GPU Neural Engine &amp; Test Suite</a:t>
            </a:r>
          </a:p>
          <a:p>
            <a:pPr>
              <a:spcAft>
                <a:spcPts val="300"/>
              </a:spcAft>
              <a:defRPr sz="1050">
                <a:solidFill>
                  <a:srgbClr val="F8FAFC"/>
                </a:solidFill>
              </a:defRPr>
            </a:pPr>
            <a:r>
              <a:t>• 100% Offline GPU compute via Ollama (Qwen 3.5 0.8B)  •  $0.00 marginal query cost  •  24/24 unit tests passing in pytest (3.25s)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01D"/>
        </a:solidFill>
        <a:effectLst/>
      </p:bgPr>
    </p:bg>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000" b="1">
                <a:solidFill>
                  <a:srgbClr val="38BDF8"/>
                </a:solidFill>
              </a:defRPr>
            </a:pPr>
            <a:r>
              <a:t>BUSINESS MODEL, IMPACT &amp; ROADMAP</a:t>
            </a:r>
          </a:p>
        </p:txBody>
      </p:sp>
      <p:sp>
        <p:nvSpPr>
          <p:cNvPr id="3" name="TextBox 2"/>
          <p:cNvSpPr txBox="1"/>
          <p:nvPr/>
        </p:nvSpPr>
        <p:spPr>
          <a:xfrm>
            <a:off x="731520" y="594360"/>
            <a:ext cx="10698480" cy="640080"/>
          </a:xfrm>
          <a:prstGeom prst="rect">
            <a:avLst/>
          </a:prstGeom>
          <a:noFill/>
        </p:spPr>
        <p:txBody>
          <a:bodyPr wrap="square">
            <a:spAutoFit/>
          </a:bodyPr>
          <a:lstStyle/>
          <a:p>
            <a:pPr>
              <a:defRPr sz="2200" b="1">
                <a:solidFill>
                  <a:srgbClr val="F8FAFC"/>
                </a:solidFill>
              </a:defRPr>
            </a:pPr>
            <a:r>
              <a:t>Lean Canvas Overview, UN SDG 3 (Target 3.4) &amp; Next Horizons</a:t>
            </a:r>
          </a:p>
        </p:txBody>
      </p:sp>
      <p:sp>
        <p:nvSpPr>
          <p:cNvPr id="4" name="Rounded Rectangle 3"/>
          <p:cNvSpPr/>
          <p:nvPr/>
        </p:nvSpPr>
        <p:spPr>
          <a:xfrm>
            <a:off x="731520" y="1463040"/>
            <a:ext cx="3328416" cy="46634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38BDF8"/>
                </a:solidFill>
              </a:defRPr>
            </a:pPr>
            <a:r>
              <a:t>Business Model &amp; Lean Canvas</a:t>
            </a:r>
          </a:p>
          <a:p>
            <a:pPr>
              <a:spcAft>
                <a:spcPts val="300"/>
              </a:spcAft>
              <a:defRPr sz="1050">
                <a:solidFill>
                  <a:srgbClr val="F8FAFC"/>
                </a:solidFill>
              </a:defRPr>
            </a:pPr>
            <a:r>
              <a:t>• Open-Core Model: Free MIT Community Edition for developers and public health.</a:t>
            </a:r>
          </a:p>
          <a:p>
            <a:pPr>
              <a:spcAft>
                <a:spcPts val="300"/>
              </a:spcAft>
              <a:defRPr sz="1050">
                <a:solidFill>
                  <a:srgbClr val="F8FAFC"/>
                </a:solidFill>
              </a:defRPr>
            </a:pPr>
            <a:r>
              <a:t>• Desktop Pro ($29 One-Time): Packaged app with auto model manager &amp; PDF export.</a:t>
            </a:r>
          </a:p>
          <a:p>
            <a:pPr>
              <a:spcAft>
                <a:spcPts val="300"/>
              </a:spcAft>
              <a:defRPr sz="1050">
                <a:solidFill>
                  <a:srgbClr val="F8FAFC"/>
                </a:solidFill>
              </a:defRPr>
            </a:pPr>
            <a:r>
              <a:t>• Clinic B2B ($49/mo): Multi-client management, branded briefings, EHR export.</a:t>
            </a:r>
          </a:p>
          <a:p>
            <a:pPr>
              <a:spcAft>
                <a:spcPts val="300"/>
              </a:spcAft>
              <a:defRPr sz="1050">
                <a:solidFill>
                  <a:srgbClr val="F8FAFC"/>
                </a:solidFill>
              </a:defRPr>
            </a:pPr>
            <a:r>
              <a:t>• Cost Structure: $0 cloud LLM fees; $0 cloud DB; &gt;95% gross margin on software licenses.</a:t>
            </a:r>
          </a:p>
        </p:txBody>
      </p:sp>
      <p:sp>
        <p:nvSpPr>
          <p:cNvPr id="5" name="Rounded Rectangle 4"/>
          <p:cNvSpPr/>
          <p:nvPr/>
        </p:nvSpPr>
        <p:spPr>
          <a:xfrm>
            <a:off x="4425696" y="1463040"/>
            <a:ext cx="3328416" cy="46634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10B981"/>
                </a:solidFill>
              </a:defRPr>
            </a:pPr>
            <a:r>
              <a:t>UN SDG 3 (Target 3.4) Impact</a:t>
            </a:r>
          </a:p>
          <a:p>
            <a:pPr>
              <a:spcAft>
                <a:spcPts val="300"/>
              </a:spcAft>
              <a:defRPr sz="1050">
                <a:solidFill>
                  <a:srgbClr val="F8FAFC"/>
                </a:solidFill>
              </a:defRPr>
            </a:pPr>
            <a:r>
              <a:t>• NCD Prevention: Early non-invasive screening for cardiovascular disease and type 2 diabetes.</a:t>
            </a:r>
          </a:p>
          <a:p>
            <a:pPr>
              <a:spcAft>
                <a:spcPts val="300"/>
              </a:spcAft>
              <a:defRPr sz="1050">
                <a:solidFill>
                  <a:srgbClr val="F8FAFC"/>
                </a:solidFill>
              </a:defRPr>
            </a:pPr>
            <a:r>
              <a:t>• Mental Well-Being: Demystifies somatic sensations to eliminate acute cyberchondria.</a:t>
            </a:r>
          </a:p>
          <a:p>
            <a:pPr>
              <a:spcAft>
                <a:spcPts val="300"/>
              </a:spcAft>
              <a:defRPr sz="1050">
                <a:solidFill>
                  <a:srgbClr val="F8FAFC"/>
                </a:solidFill>
              </a:defRPr>
            </a:pPr>
            <a:r>
              <a:t>• Circadian Restoration: Cuts sleep latency and halts late doomscrolling habits.</a:t>
            </a:r>
          </a:p>
          <a:p>
            <a:pPr>
              <a:spcAft>
                <a:spcPts val="300"/>
              </a:spcAft>
              <a:defRPr sz="1050">
                <a:solidFill>
                  <a:srgbClr val="F8FAFC"/>
                </a:solidFill>
              </a:defRPr>
            </a:pPr>
            <a:r>
              <a:t>• Health Equity: 100% free and open-source; runs locally without expensive cloud subscriptions.</a:t>
            </a:r>
          </a:p>
        </p:txBody>
      </p:sp>
      <p:sp>
        <p:nvSpPr>
          <p:cNvPr id="6" name="Rounded Rectangle 5"/>
          <p:cNvSpPr/>
          <p:nvPr/>
        </p:nvSpPr>
        <p:spPr>
          <a:xfrm>
            <a:off x="8119872" y="1463040"/>
            <a:ext cx="3328416" cy="4663440"/>
          </a:xfrm>
          <a:prstGeom prst="roundRect">
            <a:avLst/>
          </a:prstGeom>
          <a:solidFill>
            <a:srgbClr val="131C31"/>
          </a:solidFill>
          <a:ln w="15240">
            <a:solidFill>
              <a:srgbClr val="24335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46304"/>
          <a:lstStyle/>
          <a:p>
            <a:pPr algn="ctr">
              <a:spcAft>
                <a:spcPts val="600"/>
              </a:spcAft>
              <a:defRPr sz="1300" b="1">
                <a:solidFill>
                  <a:srgbClr val="A855F7"/>
                </a:solidFill>
              </a:defRPr>
            </a:pPr>
            <a:r>
              <a:t>Deliverables &amp; Live Repository</a:t>
            </a:r>
          </a:p>
          <a:p>
            <a:pPr>
              <a:spcAft>
                <a:spcPts val="300"/>
              </a:spcAft>
              <a:defRPr sz="1050">
                <a:solidFill>
                  <a:srgbClr val="F8FAFC"/>
                </a:solidFill>
              </a:defRPr>
            </a:pPr>
            <a:r>
              <a:t>• Production REST Server (&lt;30ms API) &amp; Glassmorphic Dashboard.</a:t>
            </a:r>
          </a:p>
          <a:p>
            <a:pPr>
              <a:spcAft>
                <a:spcPts val="300"/>
              </a:spcAft>
              <a:defRPr sz="1050">
                <a:solidFill>
                  <a:srgbClr val="F8FAFC"/>
                </a:solidFill>
              </a:defRPr>
            </a:pPr>
            <a:r>
              <a:t>• Streamlit Pro UI with interactive What-If habit simulation.</a:t>
            </a:r>
          </a:p>
          <a:p>
            <a:pPr>
              <a:spcAft>
                <a:spcPts val="300"/>
              </a:spcAft>
              <a:defRPr sz="1050">
                <a:solidFill>
                  <a:srgbClr val="F8FAFC"/>
                </a:solidFill>
              </a:defRPr>
            </a:pPr>
            <a:r>
              <a:t>• 24/24 Automated Unit Tests passing in pytest.</a:t>
            </a:r>
          </a:p>
          <a:p>
            <a:pPr>
              <a:spcAft>
                <a:spcPts val="300"/>
              </a:spcAft>
              <a:defRPr sz="1050">
                <a:solidFill>
                  <a:srgbClr val="F8FAFC"/>
                </a:solidFill>
              </a:defRPr>
            </a:pPr>
            <a:r>
              <a:t>• Single Combined Lean Canvas &amp; Concept Note PDF.</a:t>
            </a:r>
          </a:p>
          <a:p>
            <a:pPr>
              <a:spcAft>
                <a:spcPts val="300"/>
              </a:spcAft>
              <a:defRPr sz="1050">
                <a:solidFill>
                  <a:srgbClr val="F8FAFC"/>
                </a:solidFill>
              </a:defRPr>
            </a:pPr>
            <a:r>
              <a:t>• GitHub: github.com/Mohammed-Salman-Hussain/VitalSync-AI</a:t>
            </a:r>
          </a:p>
          <a:p>
            <a:pPr>
              <a:spcAft>
                <a:spcPts val="300"/>
              </a:spcAft>
              <a:defRPr sz="1050">
                <a:solidFill>
                  <a:srgbClr val="F8FAFC"/>
                </a:solidFill>
              </a:defRPr>
            </a:pPr>
            <a:r>
              <a:t>• Lead: Mohammed Salman Hussain (salmanhussain1199@gmail.com)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